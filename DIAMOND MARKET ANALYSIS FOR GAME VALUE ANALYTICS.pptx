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0" r:id="rId1"/>
  </p:sldMasterIdLst>
  <p:notesMasterIdLst>
    <p:notesMasterId r:id="rId19"/>
  </p:notesMasterIdLst>
  <p:sldIdLst>
    <p:sldId id="256" r:id="rId2"/>
    <p:sldId id="257" r:id="rId3"/>
    <p:sldId id="258" r:id="rId4"/>
    <p:sldId id="259" r:id="rId5"/>
    <p:sldId id="260" r:id="rId6"/>
    <p:sldId id="262" r:id="rId7"/>
    <p:sldId id="265" r:id="rId8"/>
    <p:sldId id="264" r:id="rId9"/>
    <p:sldId id="266" r:id="rId10"/>
    <p:sldId id="269" r:id="rId11"/>
    <p:sldId id="267" r:id="rId12"/>
    <p:sldId id="268" r:id="rId13"/>
    <p:sldId id="270" r:id="rId14"/>
    <p:sldId id="271" r:id="rId15"/>
    <p:sldId id="272" r:id="rId16"/>
    <p:sldId id="276" r:id="rId17"/>
    <p:sldId id="27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998" autoAdjust="0"/>
  </p:normalViewPr>
  <p:slideViewPr>
    <p:cSldViewPr snapToGrid="0">
      <p:cViewPr>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1B1427-0AC9-4470-B152-6C848A9449A4}" type="datetimeFigureOut">
              <a:rPr lang="en-US" smtClean="0"/>
              <a:t>6/3/2025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EDC9E-60C1-48A6-B3D4-2096A3FD4D0F}" type="slidenum">
              <a:rPr lang="en-US" smtClean="0"/>
              <a:t>‹#›</a:t>
            </a:fld>
            <a:endParaRPr lang="en-US"/>
          </a:p>
        </p:txBody>
      </p:sp>
    </p:spTree>
    <p:extLst>
      <p:ext uri="{BB962C8B-B14F-4D97-AF65-F5344CB8AC3E}">
        <p14:creationId xmlns:p14="http://schemas.microsoft.com/office/powerpoint/2010/main" val="4076728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6601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6/3/2025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1032001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0324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6/3/2025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1785497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58474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11820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38458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4336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0641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91663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59459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77209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22976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493418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49995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495169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04132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smtClean="0"/>
              <a:pPr/>
              <a:t>6/3/2025</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8850355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87FB4-657A-F018-A46E-72BDAB0CEB1A}"/>
              </a:ext>
            </a:extLst>
          </p:cNvPr>
          <p:cNvSpPr>
            <a:spLocks noGrp="1"/>
          </p:cNvSpPr>
          <p:nvPr>
            <p:ph type="ctrTitle"/>
          </p:nvPr>
        </p:nvSpPr>
        <p:spPr>
          <a:xfrm>
            <a:off x="3197908" y="1150309"/>
            <a:ext cx="8574622" cy="2616199"/>
          </a:xfrm>
        </p:spPr>
        <p:txBody>
          <a:bodyPr/>
          <a:lstStyle/>
          <a:p>
            <a:r>
              <a:rPr lang="en-US" sz="2800" b="1" dirty="0">
                <a:solidFill>
                  <a:schemeClr val="tx1"/>
                </a:solidFill>
              </a:rPr>
              <a:t>DIAMOND MARKET ANALYSIS FOR GAME VALUE ANALYTICS</a:t>
            </a:r>
            <a:endParaRPr lang="en-US" sz="2800" dirty="0"/>
          </a:p>
        </p:txBody>
      </p:sp>
      <p:sp>
        <p:nvSpPr>
          <p:cNvPr id="3" name="Subtitle 2">
            <a:extLst>
              <a:ext uri="{FF2B5EF4-FFF2-40B4-BE49-F238E27FC236}">
                <a16:creationId xmlns:a16="http://schemas.microsoft.com/office/drawing/2014/main" id="{7ED7A167-0A36-9454-27EE-AB8E7E49D587}"/>
              </a:ext>
            </a:extLst>
          </p:cNvPr>
          <p:cNvSpPr>
            <a:spLocks noGrp="1"/>
          </p:cNvSpPr>
          <p:nvPr>
            <p:ph type="subTitle" idx="1"/>
          </p:nvPr>
        </p:nvSpPr>
        <p:spPr/>
        <p:txBody>
          <a:bodyPr/>
          <a:lstStyle/>
          <a:p>
            <a:r>
              <a:rPr lang="en-US" b="1" dirty="0">
                <a:latin typeface="Times New Roman" panose="02020603050405020304" pitchFamily="18" charset="0"/>
                <a:cs typeface="Times New Roman" panose="02020603050405020304" pitchFamily="18" charset="0"/>
              </a:rPr>
              <a:t>MUCHOKI JACOB </a:t>
            </a:r>
          </a:p>
          <a:p>
            <a:r>
              <a:rPr lang="en-US" b="1" dirty="0">
                <a:latin typeface="Times New Roman" panose="02020603050405020304" pitchFamily="18" charset="0"/>
                <a:cs typeface="Times New Roman" panose="02020603050405020304" pitchFamily="18" charset="0"/>
              </a:rPr>
              <a:t>3</a:t>
            </a:r>
            <a:r>
              <a:rPr lang="en-US" b="1" baseline="30000" dirty="0">
                <a:latin typeface="Times New Roman" panose="02020603050405020304" pitchFamily="18" charset="0"/>
                <a:cs typeface="Times New Roman" panose="02020603050405020304" pitchFamily="18" charset="0"/>
              </a:rPr>
              <a:t>RD</a:t>
            </a:r>
            <a:r>
              <a:rPr lang="en-US" b="1" dirty="0">
                <a:latin typeface="Times New Roman" panose="02020603050405020304" pitchFamily="18" charset="0"/>
                <a:cs typeface="Times New Roman" panose="02020603050405020304" pitchFamily="18" charset="0"/>
              </a:rPr>
              <a:t> JUNE 2025</a:t>
            </a:r>
          </a:p>
        </p:txBody>
      </p:sp>
    </p:spTree>
    <p:extLst>
      <p:ext uri="{BB962C8B-B14F-4D97-AF65-F5344CB8AC3E}">
        <p14:creationId xmlns:p14="http://schemas.microsoft.com/office/powerpoint/2010/main" val="3838897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58E36-D890-275A-DA2D-63A5DCB17168}"/>
              </a:ext>
            </a:extLst>
          </p:cNvPr>
          <p:cNvSpPr>
            <a:spLocks noGrp="1"/>
          </p:cNvSpPr>
          <p:nvPr>
            <p:ph type="title"/>
          </p:nvPr>
        </p:nvSpPr>
        <p:spPr/>
        <p:txBody>
          <a:bodyPr/>
          <a:lstStyle/>
          <a:p>
            <a:r>
              <a:rPr lang="en-US" b="1" dirty="0"/>
              <a:t>INTRODUCTION</a:t>
            </a:r>
          </a:p>
        </p:txBody>
      </p:sp>
      <p:sp>
        <p:nvSpPr>
          <p:cNvPr id="3" name="Content Placeholder 2">
            <a:extLst>
              <a:ext uri="{FF2B5EF4-FFF2-40B4-BE49-F238E27FC236}">
                <a16:creationId xmlns:a16="http://schemas.microsoft.com/office/drawing/2014/main" id="{E254E839-58C2-6890-6AC7-A76C4DB4585E}"/>
              </a:ext>
            </a:extLst>
          </p:cNvPr>
          <p:cNvSpPr>
            <a:spLocks noGrp="1"/>
          </p:cNvSpPr>
          <p:nvPr>
            <p:ph idx="1"/>
          </p:nvPr>
        </p:nvSpPr>
        <p:spPr/>
        <p:txBody>
          <a:bodyPr>
            <a:noAutofit/>
          </a:bodyPr>
          <a:lstStyle/>
          <a:p>
            <a:pPr marL="0" indent="0">
              <a:buNone/>
            </a:pPr>
            <a:r>
              <a:rPr lang="en-US" sz="1800" b="1" dirty="0"/>
              <a:t>Background</a:t>
            </a:r>
            <a:br>
              <a:rPr lang="en-US" sz="1800" dirty="0"/>
            </a:br>
            <a:r>
              <a:rPr lang="en-US" sz="1800" dirty="0"/>
              <a:t>The diamond industry is a multibillion-dollar global market driven by quality, rarity, and consumer perception. Accurately pricing diamonds is essential for profitability, transparency, and competitiveness.</a:t>
            </a:r>
            <a:br>
              <a:rPr lang="en-US" sz="1800" dirty="0"/>
            </a:br>
            <a:br>
              <a:rPr lang="en-US" sz="1800" dirty="0"/>
            </a:br>
            <a:r>
              <a:rPr lang="en-US" sz="1800" b="1" dirty="0"/>
              <a:t>Industry relevance</a:t>
            </a:r>
            <a:br>
              <a:rPr lang="en-US" sz="1800" dirty="0"/>
            </a:br>
            <a:r>
              <a:rPr lang="en-US" sz="1800" dirty="0"/>
              <a:t>With increasing online jewelry sales and customer awareness, there is a growing need for data-driven pricing. Understanding how features like carat, cut, color, and clarity influence price can help businesses price more competitively and strategically.</a:t>
            </a:r>
            <a:br>
              <a:rPr lang="en-US" sz="1800" dirty="0"/>
            </a:br>
            <a:br>
              <a:rPr lang="en-US" sz="1800" dirty="0"/>
            </a:br>
            <a:r>
              <a:rPr lang="en-US" sz="1800" b="1" dirty="0"/>
              <a:t>Objective of the analysis</a:t>
            </a:r>
            <a:br>
              <a:rPr lang="en-US" sz="1800" dirty="0"/>
            </a:br>
            <a:r>
              <a:rPr lang="en-US" sz="1800" dirty="0"/>
              <a:t>To explore key drivers of diamond prices</a:t>
            </a:r>
            <a:br>
              <a:rPr lang="en-US" sz="1800" dirty="0"/>
            </a:br>
            <a:r>
              <a:rPr lang="en-US" sz="1800" dirty="0"/>
              <a:t>to detect patterns, outliers, and trends in a dataset of over 50,000 diamonds to deliver actionable insights using Python, pandas, and seaborn to provide data visualizations and a business-friendly interpretation for decision-making</a:t>
            </a:r>
          </a:p>
        </p:txBody>
      </p:sp>
    </p:spTree>
    <p:extLst>
      <p:ext uri="{BB962C8B-B14F-4D97-AF65-F5344CB8AC3E}">
        <p14:creationId xmlns:p14="http://schemas.microsoft.com/office/powerpoint/2010/main" val="3288874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6FD82-B4BD-8BDF-7AF3-800E162DB2B6}"/>
              </a:ext>
            </a:extLst>
          </p:cNvPr>
          <p:cNvSpPr>
            <a:spLocks noGrp="1"/>
          </p:cNvSpPr>
          <p:nvPr>
            <p:ph type="title"/>
          </p:nvPr>
        </p:nvSpPr>
        <p:spPr/>
        <p:txBody>
          <a:bodyPr/>
          <a:lstStyle/>
          <a:p>
            <a:r>
              <a:rPr lang="en-US" b="1" dirty="0"/>
              <a:t>PROBLEM STATEMENT</a:t>
            </a:r>
          </a:p>
        </p:txBody>
      </p:sp>
      <p:sp>
        <p:nvSpPr>
          <p:cNvPr id="3" name="Content Placeholder 2">
            <a:extLst>
              <a:ext uri="{FF2B5EF4-FFF2-40B4-BE49-F238E27FC236}">
                <a16:creationId xmlns:a16="http://schemas.microsoft.com/office/drawing/2014/main" id="{43003EF7-EE92-F6B6-84F2-A3E43B3687E2}"/>
              </a:ext>
            </a:extLst>
          </p:cNvPr>
          <p:cNvSpPr>
            <a:spLocks noGrp="1"/>
          </p:cNvSpPr>
          <p:nvPr>
            <p:ph idx="1"/>
          </p:nvPr>
        </p:nvSpPr>
        <p:spPr/>
        <p:txBody>
          <a:bodyPr/>
          <a:lstStyle/>
          <a:p>
            <a:pPr>
              <a:buNone/>
            </a:pPr>
            <a:r>
              <a:rPr lang="en-US" dirty="0"/>
              <a:t>Diamond prices vary based on features like carat, cut, color, and clarity.</a:t>
            </a:r>
          </a:p>
          <a:p>
            <a:r>
              <a:rPr lang="en-US" dirty="0"/>
              <a:t>This analysis aims to identify which features most influence price and uncover patterns that can guide better pricing decisions.</a:t>
            </a:r>
          </a:p>
          <a:p>
            <a:r>
              <a:rPr lang="en-US" dirty="0"/>
              <a:t>In this analysis, we are predicting the price of a diamond using features such as carat, cut, color, and clarity. This helps us understand which features have the most influence on price and supports better decision-making in diamond valuation.</a:t>
            </a:r>
          </a:p>
        </p:txBody>
      </p:sp>
    </p:spTree>
    <p:extLst>
      <p:ext uri="{BB962C8B-B14F-4D97-AF65-F5344CB8AC3E}">
        <p14:creationId xmlns:p14="http://schemas.microsoft.com/office/powerpoint/2010/main" val="3896161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38C81-7397-72CE-DF67-16CD1A486C88}"/>
              </a:ext>
            </a:extLst>
          </p:cNvPr>
          <p:cNvSpPr>
            <a:spLocks noGrp="1"/>
          </p:cNvSpPr>
          <p:nvPr>
            <p:ph type="title"/>
          </p:nvPr>
        </p:nvSpPr>
        <p:spPr/>
        <p:txBody>
          <a:bodyPr/>
          <a:lstStyle/>
          <a:p>
            <a:r>
              <a:rPr lang="en-US" b="1" dirty="0"/>
              <a:t>DATA DESCRIPTION</a:t>
            </a:r>
          </a:p>
        </p:txBody>
      </p:sp>
      <p:sp>
        <p:nvSpPr>
          <p:cNvPr id="3" name="Content Placeholder 2">
            <a:extLst>
              <a:ext uri="{FF2B5EF4-FFF2-40B4-BE49-F238E27FC236}">
                <a16:creationId xmlns:a16="http://schemas.microsoft.com/office/drawing/2014/main" id="{6D7D46DB-DBC0-B688-0F9D-686064D482E1}"/>
              </a:ext>
            </a:extLst>
          </p:cNvPr>
          <p:cNvSpPr>
            <a:spLocks noGrp="1"/>
          </p:cNvSpPr>
          <p:nvPr>
            <p:ph idx="1"/>
          </p:nvPr>
        </p:nvSpPr>
        <p:spPr>
          <a:xfrm>
            <a:off x="1484310" y="2106593"/>
            <a:ext cx="10018713" cy="3684608"/>
          </a:xfrm>
        </p:spPr>
        <p:txBody>
          <a:bodyPr/>
          <a:lstStyle/>
          <a:p>
            <a:r>
              <a:rPr lang="en-US" b="1" dirty="0"/>
              <a:t>Source of data- </a:t>
            </a:r>
            <a:r>
              <a:rPr lang="en-US" dirty="0"/>
              <a:t>it’s an inbuilt seaborn dataset</a:t>
            </a:r>
          </a:p>
          <a:p>
            <a:r>
              <a:rPr lang="en-US" b="1" dirty="0"/>
              <a:t>Features/variable</a:t>
            </a:r>
            <a:r>
              <a:rPr lang="en-US" dirty="0"/>
              <a:t>-price,cut,clarity,colour,depth,table and dimensions(</a:t>
            </a:r>
            <a:r>
              <a:rPr lang="en-US" dirty="0" err="1"/>
              <a:t>x,y,z</a:t>
            </a:r>
            <a:r>
              <a:rPr lang="en-US" dirty="0"/>
              <a:t>)</a:t>
            </a:r>
          </a:p>
          <a:p>
            <a:r>
              <a:rPr lang="en-US" b="1" dirty="0"/>
              <a:t>Number of records- </a:t>
            </a:r>
            <a:r>
              <a:rPr lang="en-US" dirty="0"/>
              <a:t>53940 rows and 10 columns</a:t>
            </a:r>
          </a:p>
          <a:p>
            <a:r>
              <a:rPr lang="en-US" b="1" dirty="0"/>
              <a:t>Missing values –</a:t>
            </a:r>
            <a:r>
              <a:rPr lang="en-US" dirty="0"/>
              <a:t>none</a:t>
            </a:r>
          </a:p>
          <a:p>
            <a:r>
              <a:rPr lang="en-US" b="1" dirty="0"/>
              <a:t>Duplicates</a:t>
            </a:r>
            <a:r>
              <a:rPr lang="en-US" dirty="0"/>
              <a:t>- 146 duplicated rows</a:t>
            </a:r>
          </a:p>
          <a:p>
            <a:r>
              <a:rPr lang="en-US" b="1" dirty="0" err="1"/>
              <a:t>Data_types</a:t>
            </a:r>
            <a:r>
              <a:rPr lang="en-US" b="1" dirty="0"/>
              <a:t>- </a:t>
            </a:r>
            <a:r>
              <a:rPr lang="en-US" dirty="0"/>
              <a:t>Categorical(</a:t>
            </a:r>
            <a:r>
              <a:rPr lang="en-US" dirty="0" err="1"/>
              <a:t>cut,colour</a:t>
            </a:r>
            <a:r>
              <a:rPr lang="en-US" dirty="0"/>
              <a:t> and clarity) ,  int(price) , float(</a:t>
            </a:r>
            <a:r>
              <a:rPr lang="en-US" dirty="0" err="1"/>
              <a:t>carat,table,dimensions</a:t>
            </a:r>
            <a:r>
              <a:rPr lang="en-US" dirty="0"/>
              <a:t>(</a:t>
            </a:r>
            <a:r>
              <a:rPr lang="en-US" dirty="0" err="1"/>
              <a:t>x,y,z</a:t>
            </a:r>
            <a:r>
              <a:rPr lang="en-US" dirty="0"/>
              <a:t>))</a:t>
            </a:r>
          </a:p>
        </p:txBody>
      </p:sp>
    </p:spTree>
    <p:extLst>
      <p:ext uri="{BB962C8B-B14F-4D97-AF65-F5344CB8AC3E}">
        <p14:creationId xmlns:p14="http://schemas.microsoft.com/office/powerpoint/2010/main" val="2552286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A01EA-7BBA-0BFC-CD88-1A15D5F5A251}"/>
              </a:ext>
            </a:extLst>
          </p:cNvPr>
          <p:cNvSpPr>
            <a:spLocks noGrp="1"/>
          </p:cNvSpPr>
          <p:nvPr>
            <p:ph type="title"/>
          </p:nvPr>
        </p:nvSpPr>
        <p:spPr>
          <a:xfrm>
            <a:off x="1595592" y="35293"/>
            <a:ext cx="10018713" cy="933650"/>
          </a:xfrm>
          <a:solidFill>
            <a:schemeClr val="accent3"/>
          </a:solidFill>
        </p:spPr>
        <p:txBody>
          <a:bodyPr>
            <a:normAutofit/>
          </a:bodyPr>
          <a:lstStyle/>
          <a:p>
            <a:r>
              <a:rPr lang="en-US" b="1" dirty="0" err="1"/>
              <a:t>EDA:Distribution</a:t>
            </a:r>
            <a:r>
              <a:rPr lang="en-US" b="1" dirty="0"/>
              <a:t> of Diamond by price</a:t>
            </a:r>
          </a:p>
        </p:txBody>
      </p:sp>
      <p:pic>
        <p:nvPicPr>
          <p:cNvPr id="5" name="Content Placeholder 4">
            <a:extLst>
              <a:ext uri="{FF2B5EF4-FFF2-40B4-BE49-F238E27FC236}">
                <a16:creationId xmlns:a16="http://schemas.microsoft.com/office/drawing/2014/main" id="{14808B08-D701-DBDA-4B4E-04E3CC14454C}"/>
              </a:ext>
            </a:extLst>
          </p:cNvPr>
          <p:cNvPicPr>
            <a:picLocks noGrp="1" noChangeAspect="1"/>
          </p:cNvPicPr>
          <p:nvPr>
            <p:ph idx="1"/>
          </p:nvPr>
        </p:nvPicPr>
        <p:blipFill>
          <a:blip r:embed="rId2"/>
          <a:stretch>
            <a:fillRect/>
          </a:stretch>
        </p:blipFill>
        <p:spPr>
          <a:xfrm>
            <a:off x="1484310" y="1187310"/>
            <a:ext cx="5120639" cy="4029584"/>
          </a:xfrm>
        </p:spPr>
      </p:pic>
      <p:sp>
        <p:nvSpPr>
          <p:cNvPr id="7" name="TextBox 6">
            <a:extLst>
              <a:ext uri="{FF2B5EF4-FFF2-40B4-BE49-F238E27FC236}">
                <a16:creationId xmlns:a16="http://schemas.microsoft.com/office/drawing/2014/main" id="{2AD8162D-BF6E-4E1E-82CC-F38CCBEC802A}"/>
              </a:ext>
            </a:extLst>
          </p:cNvPr>
          <p:cNvSpPr txBox="1"/>
          <p:nvPr/>
        </p:nvSpPr>
        <p:spPr>
          <a:xfrm>
            <a:off x="7179082" y="1118520"/>
            <a:ext cx="4897238" cy="4770537"/>
          </a:xfrm>
          <a:prstGeom prst="rect">
            <a:avLst/>
          </a:prstGeom>
          <a:solidFill>
            <a:schemeClr val="bg1"/>
          </a:solidFill>
        </p:spPr>
        <p:txBody>
          <a:bodyPr wrap="square" rtlCol="0">
            <a:spAutoFit/>
          </a:bodyPr>
          <a:lstStyle/>
          <a:p>
            <a:r>
              <a:rPr lang="en-US" sz="1600" dirty="0"/>
              <a:t>Right-Skewed Distribution (Positively Skewed)*</a:t>
            </a:r>
          </a:p>
          <a:p>
            <a:endParaRPr lang="en-US" sz="1600" dirty="0"/>
          </a:p>
          <a:p>
            <a:r>
              <a:rPr lang="en-US" sz="1600" dirty="0"/>
              <a:t>Most diamonds are low-priced, clustered towards the left (under 2,500).</a:t>
            </a:r>
          </a:p>
          <a:p>
            <a:r>
              <a:rPr lang="en-US" sz="1600" dirty="0"/>
              <a:t>A few diamonds are very expensive, causing a long tail on the right.</a:t>
            </a:r>
          </a:p>
          <a:p>
            <a:r>
              <a:rPr lang="en-US" sz="1600" dirty="0"/>
              <a:t>The majority of Diamonds Are Affordable</a:t>
            </a:r>
          </a:p>
          <a:p>
            <a:endParaRPr lang="en-US" sz="1600" dirty="0"/>
          </a:p>
          <a:p>
            <a:r>
              <a:rPr lang="en-US" sz="1600" dirty="0"/>
              <a:t>Over 25,000 diamonds are priced below 2,500.</a:t>
            </a:r>
          </a:p>
          <a:p>
            <a:r>
              <a:rPr lang="en-US" sz="1600" dirty="0"/>
              <a:t>The count drops sharply as the price increases.</a:t>
            </a:r>
          </a:p>
          <a:p>
            <a:r>
              <a:rPr lang="en-US" sz="1600" dirty="0"/>
              <a:t>Rare Expensive Diamonds</a:t>
            </a:r>
          </a:p>
          <a:p>
            <a:endParaRPr lang="en-US" sz="1600" dirty="0"/>
          </a:p>
          <a:p>
            <a:r>
              <a:rPr lang="en-US" sz="1600" dirty="0"/>
              <a:t>Diamonds priced above 10,000 are relatively rare.</a:t>
            </a:r>
          </a:p>
          <a:p>
            <a:r>
              <a:rPr lang="en-US" sz="1600" dirty="0"/>
              <a:t>Most diamonds are small and have good but not perfect quality, so they fall in the </a:t>
            </a:r>
          </a:p>
          <a:p>
            <a:r>
              <a:rPr lang="en-US" sz="1600" dirty="0"/>
              <a:t>2,500 price range. Diamonds that are very big and perfect are very rare, so we see fewer of them, and that’s why there are fewer diamonds with super high prices.</a:t>
            </a:r>
          </a:p>
        </p:txBody>
      </p:sp>
    </p:spTree>
    <p:extLst>
      <p:ext uri="{BB962C8B-B14F-4D97-AF65-F5344CB8AC3E}">
        <p14:creationId xmlns:p14="http://schemas.microsoft.com/office/powerpoint/2010/main" val="1341801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417BF-F1DB-1613-74EB-BE05E6B9E2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8EE13-619E-1B99-4307-CFCA1FF82FB0}"/>
              </a:ext>
            </a:extLst>
          </p:cNvPr>
          <p:cNvSpPr>
            <a:spLocks noGrp="1"/>
          </p:cNvSpPr>
          <p:nvPr>
            <p:ph type="title"/>
          </p:nvPr>
        </p:nvSpPr>
        <p:spPr>
          <a:solidFill>
            <a:schemeClr val="accent3"/>
          </a:solidFill>
        </p:spPr>
        <p:txBody>
          <a:bodyPr/>
          <a:lstStyle/>
          <a:p>
            <a:r>
              <a:rPr lang="en-US" b="1" dirty="0" err="1"/>
              <a:t>EDA:Average</a:t>
            </a:r>
            <a:r>
              <a:rPr lang="en-US" b="1" dirty="0"/>
              <a:t> Diamond Price by Carat Range</a:t>
            </a:r>
          </a:p>
        </p:txBody>
      </p:sp>
      <p:sp>
        <p:nvSpPr>
          <p:cNvPr id="7" name="TextBox 6">
            <a:extLst>
              <a:ext uri="{FF2B5EF4-FFF2-40B4-BE49-F238E27FC236}">
                <a16:creationId xmlns:a16="http://schemas.microsoft.com/office/drawing/2014/main" id="{89EAED86-6FB0-5586-0D8C-D379E21D2472}"/>
              </a:ext>
            </a:extLst>
          </p:cNvPr>
          <p:cNvSpPr txBox="1"/>
          <p:nvPr/>
        </p:nvSpPr>
        <p:spPr>
          <a:xfrm>
            <a:off x="1198762" y="2734186"/>
            <a:ext cx="4897238" cy="2585323"/>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effectLst/>
                <a:latin typeface="system-ui"/>
              </a:rPr>
              <a:t>The plot reveals a significant relationship between carat and price. As the carat range increases, the average diamond price rises noticeably. This indicates that diamonds with higher carat weights tend to be significantly more expensive. The trend suggests that larger diamonds are more valuable, and the price increase becomes more pronounced in the higher carat ranges, reflecting their rarity and market demand.</a:t>
            </a:r>
            <a:endParaRPr kumimoji="0" lang="en-US"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pic>
        <p:nvPicPr>
          <p:cNvPr id="8" name="Content Placeholder 7">
            <a:extLst>
              <a:ext uri="{FF2B5EF4-FFF2-40B4-BE49-F238E27FC236}">
                <a16:creationId xmlns:a16="http://schemas.microsoft.com/office/drawing/2014/main" id="{20EE94DE-D918-ECEB-3F6B-D67F5B4704D6}"/>
              </a:ext>
            </a:extLst>
          </p:cNvPr>
          <p:cNvPicPr>
            <a:picLocks noGrp="1" noChangeAspect="1"/>
          </p:cNvPicPr>
          <p:nvPr>
            <p:ph idx="1"/>
          </p:nvPr>
        </p:nvPicPr>
        <p:blipFill>
          <a:blip r:embed="rId2"/>
          <a:stretch>
            <a:fillRect/>
          </a:stretch>
        </p:blipFill>
        <p:spPr>
          <a:xfrm>
            <a:off x="6658058" y="2734186"/>
            <a:ext cx="5276477" cy="4070684"/>
          </a:xfrm>
        </p:spPr>
      </p:pic>
    </p:spTree>
    <p:extLst>
      <p:ext uri="{BB962C8B-B14F-4D97-AF65-F5344CB8AC3E}">
        <p14:creationId xmlns:p14="http://schemas.microsoft.com/office/powerpoint/2010/main" val="1406136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03C0A-5A58-B694-CD26-8F63ACE92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596C8-BB93-83CB-132D-13FE96C5F5F8}"/>
              </a:ext>
            </a:extLst>
          </p:cNvPr>
          <p:cNvSpPr>
            <a:spLocks noGrp="1"/>
          </p:cNvSpPr>
          <p:nvPr>
            <p:ph type="title"/>
          </p:nvPr>
        </p:nvSpPr>
        <p:spPr>
          <a:xfrm>
            <a:off x="1484311" y="685800"/>
            <a:ext cx="10018713" cy="1364381"/>
          </a:xfrm>
          <a:solidFill>
            <a:schemeClr val="accent3"/>
          </a:solidFill>
        </p:spPr>
        <p:txBody>
          <a:bodyPr/>
          <a:lstStyle/>
          <a:p>
            <a:r>
              <a:rPr lang="en-US" b="1" dirty="0" err="1"/>
              <a:t>EDA:Distribution</a:t>
            </a:r>
            <a:r>
              <a:rPr lang="en-US" b="1" dirty="0"/>
              <a:t> Of price by cut</a:t>
            </a:r>
          </a:p>
        </p:txBody>
      </p:sp>
      <p:sp>
        <p:nvSpPr>
          <p:cNvPr id="7" name="TextBox 6">
            <a:extLst>
              <a:ext uri="{FF2B5EF4-FFF2-40B4-BE49-F238E27FC236}">
                <a16:creationId xmlns:a16="http://schemas.microsoft.com/office/drawing/2014/main" id="{0F3F0457-B7E4-BF25-2ED1-BA15D86588BF}"/>
              </a:ext>
            </a:extLst>
          </p:cNvPr>
          <p:cNvSpPr txBox="1"/>
          <p:nvPr/>
        </p:nvSpPr>
        <p:spPr>
          <a:xfrm>
            <a:off x="1198762" y="2734186"/>
            <a:ext cx="4897238" cy="2031325"/>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effectLst/>
                <a:latin typeface="system-ui"/>
              </a:rPr>
              <a:t>Although Ideal is considered the highest-quality cut, it has fewer high-priced </a:t>
            </a:r>
            <a:r>
              <a:rPr lang="en-US" b="0" i="0" dirty="0" err="1">
                <a:effectLst/>
                <a:latin typeface="system-ui"/>
              </a:rPr>
              <a:t>diamonds.This</a:t>
            </a:r>
            <a:r>
              <a:rPr lang="en-US" b="0" i="0" dirty="0">
                <a:effectLst/>
                <a:latin typeface="system-ui"/>
              </a:rPr>
              <a:t> suggests that cut quality alone doesn’t determine </a:t>
            </a:r>
            <a:r>
              <a:rPr lang="en-US" b="0" i="0" dirty="0" err="1">
                <a:effectLst/>
                <a:latin typeface="system-ui"/>
              </a:rPr>
              <a:t>price.Factors</a:t>
            </a:r>
            <a:r>
              <a:rPr lang="en-US" b="0" i="0" dirty="0">
                <a:effectLst/>
                <a:latin typeface="system-ui"/>
              </a:rPr>
              <a:t> like carat weight, clarity, and color significantly influence diamond </a:t>
            </a:r>
            <a:r>
              <a:rPr lang="en-US" b="0" i="0" dirty="0" err="1">
                <a:effectLst/>
                <a:latin typeface="system-ui"/>
              </a:rPr>
              <a:t>value.As</a:t>
            </a:r>
            <a:r>
              <a:rPr lang="en-US" b="0" i="0" dirty="0">
                <a:effectLst/>
                <a:latin typeface="system-ui"/>
              </a:rPr>
              <a:t> a result, even Fair cuts may be priced higher when combined with premium characteristics.</a:t>
            </a:r>
            <a:endParaRPr kumimoji="0" lang="en-US"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pic>
        <p:nvPicPr>
          <p:cNvPr id="8" name="Content Placeholder 7">
            <a:extLst>
              <a:ext uri="{FF2B5EF4-FFF2-40B4-BE49-F238E27FC236}">
                <a16:creationId xmlns:a16="http://schemas.microsoft.com/office/drawing/2014/main" id="{38E7A9E6-723E-9C1B-81A0-1D3602CB4014}"/>
              </a:ext>
            </a:extLst>
          </p:cNvPr>
          <p:cNvPicPr>
            <a:picLocks noGrp="1" noChangeAspect="1"/>
          </p:cNvPicPr>
          <p:nvPr>
            <p:ph idx="1"/>
          </p:nvPr>
        </p:nvPicPr>
        <p:blipFill>
          <a:blip r:embed="rId2"/>
          <a:stretch>
            <a:fillRect/>
          </a:stretch>
        </p:blipFill>
        <p:spPr>
          <a:xfrm>
            <a:off x="6493667" y="2608446"/>
            <a:ext cx="5267761" cy="4063960"/>
          </a:xfrm>
        </p:spPr>
      </p:pic>
    </p:spTree>
    <p:extLst>
      <p:ext uri="{BB962C8B-B14F-4D97-AF65-F5344CB8AC3E}">
        <p14:creationId xmlns:p14="http://schemas.microsoft.com/office/powerpoint/2010/main" val="522780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248C6-DE27-8F7E-E7E4-680D5DC5D3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38465-63DE-23C5-FF1F-F98B77C00B5B}"/>
              </a:ext>
            </a:extLst>
          </p:cNvPr>
          <p:cNvSpPr>
            <a:spLocks noGrp="1"/>
          </p:cNvSpPr>
          <p:nvPr>
            <p:ph type="title"/>
          </p:nvPr>
        </p:nvSpPr>
        <p:spPr>
          <a:xfrm>
            <a:off x="1484311" y="685800"/>
            <a:ext cx="10018713" cy="1229627"/>
          </a:xfrm>
          <a:solidFill>
            <a:schemeClr val="accent3"/>
          </a:solidFill>
        </p:spPr>
        <p:txBody>
          <a:bodyPr/>
          <a:lstStyle/>
          <a:p>
            <a:r>
              <a:rPr lang="en-US" b="1" dirty="0" err="1"/>
              <a:t>EDA:Distribution</a:t>
            </a:r>
            <a:r>
              <a:rPr lang="en-US" b="1" dirty="0"/>
              <a:t> of price by Diamond Clarity</a:t>
            </a:r>
          </a:p>
        </p:txBody>
      </p:sp>
      <p:sp>
        <p:nvSpPr>
          <p:cNvPr id="7" name="TextBox 6">
            <a:extLst>
              <a:ext uri="{FF2B5EF4-FFF2-40B4-BE49-F238E27FC236}">
                <a16:creationId xmlns:a16="http://schemas.microsoft.com/office/drawing/2014/main" id="{704DF25C-D1FE-FBFD-F30B-AF8392250D94}"/>
              </a:ext>
            </a:extLst>
          </p:cNvPr>
          <p:cNvSpPr txBox="1"/>
          <p:nvPr/>
        </p:nvSpPr>
        <p:spPr>
          <a:xfrm>
            <a:off x="1198762" y="2464746"/>
            <a:ext cx="4897238" cy="2308324"/>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effectLst/>
                <a:latin typeface="system-ui"/>
              </a:rPr>
              <a:t>While the clarity levels are arranged from the most clear to the least, the pricing trend does not strictly follow this order. Interestingly, a lower clarity level (such as SI2) shows the highest average price. This indicates that clarity alone does not determine diamond price — factors like carat size, cut quality, and color significantly influence the final value.</a:t>
            </a:r>
            <a:endParaRPr kumimoji="0" lang="en-US" b="0" i="0" u="none" strike="noStrike" kern="1200" cap="none" spc="0" normalizeH="0" baseline="0" noProof="0" dirty="0">
              <a:ln>
                <a:noFill/>
              </a:ln>
              <a:solidFill>
                <a:prstClr val="black"/>
              </a:solidFill>
              <a:effectLst/>
              <a:uLnTx/>
              <a:uFillTx/>
              <a:latin typeface="Corbel" panose="020B0503020204020204"/>
              <a:ea typeface="+mn-ea"/>
              <a:cs typeface="+mn-cs"/>
            </a:endParaRPr>
          </a:p>
        </p:txBody>
      </p:sp>
      <p:pic>
        <p:nvPicPr>
          <p:cNvPr id="6" name="Content Placeholder 5">
            <a:extLst>
              <a:ext uri="{FF2B5EF4-FFF2-40B4-BE49-F238E27FC236}">
                <a16:creationId xmlns:a16="http://schemas.microsoft.com/office/drawing/2014/main" id="{BC14582C-5C75-4EEF-06ED-67BE112743CA}"/>
              </a:ext>
            </a:extLst>
          </p:cNvPr>
          <p:cNvPicPr>
            <a:picLocks noGrp="1" noChangeAspect="1"/>
          </p:cNvPicPr>
          <p:nvPr>
            <p:ph idx="1"/>
          </p:nvPr>
        </p:nvPicPr>
        <p:blipFill>
          <a:blip r:embed="rId2"/>
          <a:stretch>
            <a:fillRect/>
          </a:stretch>
        </p:blipFill>
        <p:spPr>
          <a:xfrm>
            <a:off x="6493667" y="2464746"/>
            <a:ext cx="5355459" cy="3782049"/>
          </a:xfrm>
        </p:spPr>
      </p:pic>
    </p:spTree>
    <p:extLst>
      <p:ext uri="{BB962C8B-B14F-4D97-AF65-F5344CB8AC3E}">
        <p14:creationId xmlns:p14="http://schemas.microsoft.com/office/powerpoint/2010/main" val="3947648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80F07-11DE-ACC8-1BF6-D9D1F8E2D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1B7D23-3396-6ED1-C230-BFB22B2FA76B}"/>
              </a:ext>
            </a:extLst>
          </p:cNvPr>
          <p:cNvSpPr>
            <a:spLocks noGrp="1"/>
          </p:cNvSpPr>
          <p:nvPr>
            <p:ph type="title"/>
          </p:nvPr>
        </p:nvSpPr>
        <p:spPr>
          <a:xfrm>
            <a:off x="1484311" y="685800"/>
            <a:ext cx="10018713" cy="1258503"/>
          </a:xfrm>
          <a:solidFill>
            <a:schemeClr val="accent3"/>
          </a:solidFill>
        </p:spPr>
        <p:txBody>
          <a:bodyPr/>
          <a:lstStyle/>
          <a:p>
            <a:r>
              <a:rPr lang="en-US" b="1" dirty="0" err="1"/>
              <a:t>EDA:Distribution</a:t>
            </a:r>
            <a:r>
              <a:rPr lang="en-US" b="1" dirty="0"/>
              <a:t> of price by Diamond's color</a:t>
            </a:r>
          </a:p>
        </p:txBody>
      </p:sp>
      <p:sp>
        <p:nvSpPr>
          <p:cNvPr id="7" name="TextBox 6">
            <a:extLst>
              <a:ext uri="{FF2B5EF4-FFF2-40B4-BE49-F238E27FC236}">
                <a16:creationId xmlns:a16="http://schemas.microsoft.com/office/drawing/2014/main" id="{806B01D7-6754-5DCA-7FCC-EA2D84D498E1}"/>
              </a:ext>
            </a:extLst>
          </p:cNvPr>
          <p:cNvSpPr txBox="1"/>
          <p:nvPr/>
        </p:nvSpPr>
        <p:spPr>
          <a:xfrm>
            <a:off x="6762165" y="2031731"/>
            <a:ext cx="4897238" cy="4524315"/>
          </a:xfrm>
          <a:prstGeom prst="rect">
            <a:avLst/>
          </a:prstGeom>
          <a:solidFill>
            <a:schemeClr val="bg1"/>
          </a:solidFill>
        </p:spPr>
        <p:txBody>
          <a:bodyPr wrap="square" rtlCol="0">
            <a:spAutoFit/>
          </a:bodyPr>
          <a:lstStyle/>
          <a:p>
            <a:pPr algn="l">
              <a:buNone/>
            </a:pPr>
            <a:r>
              <a:rPr lang="en-US" b="0" i="0" dirty="0">
                <a:effectLst/>
                <a:latin typeface="system-ui"/>
              </a:rPr>
              <a:t> Trend as Price Increases:</a:t>
            </a:r>
          </a:p>
          <a:p>
            <a:pPr algn="l">
              <a:buNone/>
            </a:pPr>
            <a:r>
              <a:rPr lang="en-US" b="0" i="0" dirty="0">
                <a:effectLst/>
                <a:latin typeface="system-ui"/>
              </a:rPr>
              <a:t>Across all color grades, the violin shapes narrow significantly at higher prices (e.g., above </a:t>
            </a:r>
            <a:r>
              <a:rPr lang="en-US" b="0" i="0" dirty="0" err="1">
                <a:effectLst/>
                <a:latin typeface="system-ui"/>
              </a:rPr>
              <a:t>Ksh</a:t>
            </a:r>
            <a:r>
              <a:rPr lang="en-US" b="0" i="0" dirty="0">
                <a:effectLst/>
                <a:latin typeface="system-ui"/>
              </a:rPr>
              <a:t> 13,000 to 20,000), indicating that expensive diamonds are much less common in the dataset.</a:t>
            </a:r>
          </a:p>
          <a:p>
            <a:pPr algn="l">
              <a:buNone/>
            </a:pPr>
            <a:r>
              <a:rPr lang="en-US" b="0" i="0" dirty="0">
                <a:effectLst/>
                <a:latin typeface="system-ui"/>
              </a:rPr>
              <a:t>The density is concentrated at the bottom of each violin, confirming that affordable diamonds are the majority in all color categories. Insights: High-quality colors (like D) may be less available or purchased less frequently, even if they tend to be more expensive.</a:t>
            </a:r>
          </a:p>
          <a:p>
            <a:pPr algn="l">
              <a:buNone/>
            </a:pPr>
            <a:r>
              <a:rPr lang="en-US" b="0" i="0" dirty="0">
                <a:effectLst/>
                <a:latin typeface="system-ui"/>
              </a:rPr>
              <a:t>Lower-quality colors (like J) are more common, especially at lower price points, possibly due to higher demand for affordable options.</a:t>
            </a:r>
          </a:p>
          <a:p>
            <a:pPr algn="l"/>
            <a:r>
              <a:rPr lang="en-US" b="0" i="0" dirty="0">
                <a:effectLst/>
                <a:latin typeface="system-ui"/>
              </a:rPr>
              <a:t>The market is skewed towards affordability, with very few diamonds reaching very high prices.</a:t>
            </a:r>
          </a:p>
        </p:txBody>
      </p:sp>
      <p:pic>
        <p:nvPicPr>
          <p:cNvPr id="6" name="Content Placeholder 5">
            <a:extLst>
              <a:ext uri="{FF2B5EF4-FFF2-40B4-BE49-F238E27FC236}">
                <a16:creationId xmlns:a16="http://schemas.microsoft.com/office/drawing/2014/main" id="{84F889EE-868D-5869-5F86-86569EB21819}"/>
              </a:ext>
            </a:extLst>
          </p:cNvPr>
          <p:cNvPicPr>
            <a:picLocks noGrp="1" noChangeAspect="1"/>
          </p:cNvPicPr>
          <p:nvPr>
            <p:ph idx="1"/>
          </p:nvPr>
        </p:nvPicPr>
        <p:blipFill>
          <a:blip r:embed="rId2"/>
          <a:stretch>
            <a:fillRect/>
          </a:stretch>
        </p:blipFill>
        <p:spPr>
          <a:xfrm>
            <a:off x="1484311" y="2031731"/>
            <a:ext cx="4977045" cy="3839679"/>
          </a:xfrm>
        </p:spPr>
      </p:pic>
    </p:spTree>
    <p:extLst>
      <p:ext uri="{BB962C8B-B14F-4D97-AF65-F5344CB8AC3E}">
        <p14:creationId xmlns:p14="http://schemas.microsoft.com/office/powerpoint/2010/main" val="1981512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8346A-1545-A1EE-4D87-BC3883706E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BE009-AA0C-99B9-4D61-12B836AFBFB6}"/>
              </a:ext>
            </a:extLst>
          </p:cNvPr>
          <p:cNvSpPr>
            <a:spLocks noGrp="1"/>
          </p:cNvSpPr>
          <p:nvPr>
            <p:ph type="title"/>
          </p:nvPr>
        </p:nvSpPr>
        <p:spPr>
          <a:xfrm>
            <a:off x="1484311" y="685800"/>
            <a:ext cx="10018713" cy="1229627"/>
          </a:xfrm>
          <a:solidFill>
            <a:schemeClr val="accent3"/>
          </a:solidFill>
        </p:spPr>
        <p:txBody>
          <a:bodyPr>
            <a:normAutofit fontScale="90000"/>
          </a:bodyPr>
          <a:lstStyle/>
          <a:p>
            <a:r>
              <a:rPr lang="en-US" b="1" dirty="0"/>
              <a:t> </a:t>
            </a:r>
            <a:r>
              <a:rPr lang="en-US" b="1" dirty="0" err="1"/>
              <a:t>EDA:Comparison</a:t>
            </a:r>
            <a:r>
              <a:rPr lang="en-US" b="1" dirty="0"/>
              <a:t> of prices with and without outliers</a:t>
            </a:r>
          </a:p>
        </p:txBody>
      </p:sp>
      <p:sp>
        <p:nvSpPr>
          <p:cNvPr id="7" name="TextBox 6">
            <a:extLst>
              <a:ext uri="{FF2B5EF4-FFF2-40B4-BE49-F238E27FC236}">
                <a16:creationId xmlns:a16="http://schemas.microsoft.com/office/drawing/2014/main" id="{5F30E00A-E6D1-03D5-6F9E-FC4954962E8B}"/>
              </a:ext>
            </a:extLst>
          </p:cNvPr>
          <p:cNvSpPr txBox="1"/>
          <p:nvPr/>
        </p:nvSpPr>
        <p:spPr>
          <a:xfrm>
            <a:off x="747210" y="2281990"/>
            <a:ext cx="4897238" cy="2308324"/>
          </a:xfrm>
          <a:prstGeom prst="rect">
            <a:avLst/>
          </a:prstGeom>
          <a:solidFill>
            <a:schemeClr val="bg1"/>
          </a:solidFill>
        </p:spPr>
        <p:txBody>
          <a:bodyPr wrap="square" rtlCol="0">
            <a:spAutoFit/>
          </a:bodyPr>
          <a:lstStyle/>
          <a:p>
            <a:pPr algn="l">
              <a:buNone/>
            </a:pPr>
            <a:r>
              <a:rPr lang="en-US" b="0" i="0" dirty="0">
                <a:effectLst/>
                <a:latin typeface="system-ui"/>
              </a:rPr>
              <a:t>The boxplot comparison shows how outliers affect the distribution of diamond prices. When outliers are included, the plot becomes stretched, making it hard to see the main price range. After removing outliers, the boxplot clearly shows that most diamond prices are concentrated below $ 5,000. This helps us better understand the typical price distribution.</a:t>
            </a:r>
          </a:p>
        </p:txBody>
      </p:sp>
      <p:pic>
        <p:nvPicPr>
          <p:cNvPr id="12" name="Content Placeholder 11">
            <a:extLst>
              <a:ext uri="{FF2B5EF4-FFF2-40B4-BE49-F238E27FC236}">
                <a16:creationId xmlns:a16="http://schemas.microsoft.com/office/drawing/2014/main" id="{A02900AB-BA2B-55CD-D0D1-8E57B23B83EA}"/>
              </a:ext>
            </a:extLst>
          </p:cNvPr>
          <p:cNvPicPr>
            <a:picLocks noGrp="1" noChangeAspect="1"/>
          </p:cNvPicPr>
          <p:nvPr>
            <p:ph idx="1"/>
          </p:nvPr>
        </p:nvPicPr>
        <p:blipFill>
          <a:blip r:embed="rId2"/>
          <a:stretch>
            <a:fillRect/>
          </a:stretch>
        </p:blipFill>
        <p:spPr>
          <a:xfrm>
            <a:off x="5861785" y="2281990"/>
            <a:ext cx="5874856" cy="3695299"/>
          </a:xfrm>
        </p:spPr>
      </p:pic>
    </p:spTree>
    <p:extLst>
      <p:ext uri="{BB962C8B-B14F-4D97-AF65-F5344CB8AC3E}">
        <p14:creationId xmlns:p14="http://schemas.microsoft.com/office/powerpoint/2010/main" val="3963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1F703-9E42-C00F-DA1A-C22346BFCD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384A01-9968-1EE7-56A2-8F79AA24050F}"/>
              </a:ext>
            </a:extLst>
          </p:cNvPr>
          <p:cNvSpPr>
            <a:spLocks noGrp="1"/>
          </p:cNvSpPr>
          <p:nvPr>
            <p:ph type="title"/>
          </p:nvPr>
        </p:nvSpPr>
        <p:spPr>
          <a:xfrm>
            <a:off x="1484311" y="685801"/>
            <a:ext cx="10018713" cy="1268128"/>
          </a:xfrm>
          <a:solidFill>
            <a:schemeClr val="accent3"/>
          </a:solidFill>
        </p:spPr>
        <p:txBody>
          <a:bodyPr/>
          <a:lstStyle/>
          <a:p>
            <a:pPr algn="l"/>
            <a:r>
              <a:rPr lang="en-US" b="1" dirty="0" err="1"/>
              <a:t>EDA:Correlation</a:t>
            </a:r>
            <a:r>
              <a:rPr lang="en-US" b="1" dirty="0"/>
              <a:t> in the numeric variables</a:t>
            </a:r>
          </a:p>
        </p:txBody>
      </p:sp>
      <p:sp>
        <p:nvSpPr>
          <p:cNvPr id="7" name="TextBox 6">
            <a:extLst>
              <a:ext uri="{FF2B5EF4-FFF2-40B4-BE49-F238E27FC236}">
                <a16:creationId xmlns:a16="http://schemas.microsoft.com/office/drawing/2014/main" id="{77DB8E20-7CDC-B166-44BA-56A6696672C0}"/>
              </a:ext>
            </a:extLst>
          </p:cNvPr>
          <p:cNvSpPr txBox="1"/>
          <p:nvPr/>
        </p:nvSpPr>
        <p:spPr>
          <a:xfrm>
            <a:off x="6762165" y="2031731"/>
            <a:ext cx="4897238" cy="2308324"/>
          </a:xfrm>
          <a:prstGeom prst="rect">
            <a:avLst/>
          </a:prstGeom>
          <a:solidFill>
            <a:schemeClr val="bg1"/>
          </a:solidFill>
        </p:spPr>
        <p:txBody>
          <a:bodyPr wrap="square" rtlCol="0">
            <a:spAutoFit/>
          </a:bodyPr>
          <a:lstStyle/>
          <a:p>
            <a:pPr algn="l">
              <a:buNone/>
            </a:pPr>
            <a:r>
              <a:rPr lang="en-US" b="0" i="0" dirty="0">
                <a:effectLst/>
                <a:latin typeface="system-ui"/>
              </a:rPr>
              <a:t>From the heatmap, we observe that the most strongly correlated factors with diamond price are carat and the physical dimensions (x, y, and z), which means that size and weight are key determinants of price. In contrast, features like depth and table show weak or no significant correlation with price, suggesting they are not major factors in determining a diamond’s value.</a:t>
            </a:r>
          </a:p>
        </p:txBody>
      </p:sp>
      <p:pic>
        <p:nvPicPr>
          <p:cNvPr id="8" name="Content Placeholder 7">
            <a:extLst>
              <a:ext uri="{FF2B5EF4-FFF2-40B4-BE49-F238E27FC236}">
                <a16:creationId xmlns:a16="http://schemas.microsoft.com/office/drawing/2014/main" id="{05485A09-4C41-0BBD-BD59-2DCB7A991D6F}"/>
              </a:ext>
            </a:extLst>
          </p:cNvPr>
          <p:cNvPicPr>
            <a:picLocks noGrp="1" noChangeAspect="1"/>
          </p:cNvPicPr>
          <p:nvPr>
            <p:ph idx="1"/>
          </p:nvPr>
        </p:nvPicPr>
        <p:blipFill>
          <a:blip r:embed="rId2"/>
          <a:stretch>
            <a:fillRect/>
          </a:stretch>
        </p:blipFill>
        <p:spPr>
          <a:xfrm>
            <a:off x="1484310" y="2137611"/>
            <a:ext cx="4611689" cy="3838632"/>
          </a:xfrm>
        </p:spPr>
      </p:pic>
    </p:spTree>
    <p:extLst>
      <p:ext uri="{BB962C8B-B14F-4D97-AF65-F5344CB8AC3E}">
        <p14:creationId xmlns:p14="http://schemas.microsoft.com/office/powerpoint/2010/main" val="2594988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BBE31-AAD2-035C-068A-EC961C43B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2AC1A-9BCE-DD05-19C6-8BC8D0959E3D}"/>
              </a:ext>
            </a:extLst>
          </p:cNvPr>
          <p:cNvSpPr>
            <a:spLocks noGrp="1"/>
          </p:cNvSpPr>
          <p:nvPr>
            <p:ph type="title"/>
          </p:nvPr>
        </p:nvSpPr>
        <p:spPr>
          <a:xfrm>
            <a:off x="1484311" y="685800"/>
            <a:ext cx="10018713" cy="1123749"/>
          </a:xfrm>
          <a:solidFill>
            <a:schemeClr val="accent3"/>
          </a:solidFill>
        </p:spPr>
        <p:txBody>
          <a:bodyPr/>
          <a:lstStyle/>
          <a:p>
            <a:pPr algn="l"/>
            <a:r>
              <a:rPr lang="en-US" b="1" dirty="0" err="1"/>
              <a:t>EDA:Skewed</a:t>
            </a:r>
            <a:r>
              <a:rPr lang="en-US" b="1" dirty="0"/>
              <a:t> Distribution for price and carat</a:t>
            </a:r>
          </a:p>
        </p:txBody>
      </p:sp>
      <p:sp>
        <p:nvSpPr>
          <p:cNvPr id="7" name="TextBox 6">
            <a:extLst>
              <a:ext uri="{FF2B5EF4-FFF2-40B4-BE49-F238E27FC236}">
                <a16:creationId xmlns:a16="http://schemas.microsoft.com/office/drawing/2014/main" id="{28E76CF4-BB37-3874-0361-0D9314CA6493}"/>
              </a:ext>
            </a:extLst>
          </p:cNvPr>
          <p:cNvSpPr txBox="1"/>
          <p:nvPr/>
        </p:nvSpPr>
        <p:spPr>
          <a:xfrm>
            <a:off x="6916169" y="2111278"/>
            <a:ext cx="4897238" cy="2585323"/>
          </a:xfrm>
          <a:prstGeom prst="rect">
            <a:avLst/>
          </a:prstGeom>
          <a:solidFill>
            <a:schemeClr val="bg1"/>
          </a:solidFill>
        </p:spPr>
        <p:txBody>
          <a:bodyPr wrap="square" rtlCol="0">
            <a:spAutoFit/>
          </a:bodyPr>
          <a:lstStyle/>
          <a:p>
            <a:pPr algn="l">
              <a:buNone/>
            </a:pPr>
            <a:r>
              <a:rPr lang="en-US" b="0" i="0" dirty="0">
                <a:effectLst/>
                <a:latin typeface="system-ui"/>
              </a:rPr>
              <a:t>From the visualizations, both price and carat distributions are positively skewed. This means that most diamonds in the dataset are affordable and lightweight, with a smaller number of diamonds being very expensive or having higher carat values. The long right tails in both plots indicate that while high-priced and large-carat diamonds exist, they are much less common compared to lower-priced, smaller diamonds.</a:t>
            </a:r>
          </a:p>
        </p:txBody>
      </p:sp>
      <p:pic>
        <p:nvPicPr>
          <p:cNvPr id="6" name="Content Placeholder 5">
            <a:extLst>
              <a:ext uri="{FF2B5EF4-FFF2-40B4-BE49-F238E27FC236}">
                <a16:creationId xmlns:a16="http://schemas.microsoft.com/office/drawing/2014/main" id="{46480BA3-9258-9440-5695-646A7A28F4BD}"/>
              </a:ext>
            </a:extLst>
          </p:cNvPr>
          <p:cNvPicPr>
            <a:picLocks noGrp="1" noChangeAspect="1"/>
          </p:cNvPicPr>
          <p:nvPr>
            <p:ph idx="1"/>
          </p:nvPr>
        </p:nvPicPr>
        <p:blipFill>
          <a:blip r:embed="rId2"/>
          <a:stretch>
            <a:fillRect/>
          </a:stretch>
        </p:blipFill>
        <p:spPr>
          <a:xfrm>
            <a:off x="1397048" y="2031731"/>
            <a:ext cx="5133833" cy="3464294"/>
          </a:xfrm>
        </p:spPr>
      </p:pic>
    </p:spTree>
    <p:extLst>
      <p:ext uri="{BB962C8B-B14F-4D97-AF65-F5344CB8AC3E}">
        <p14:creationId xmlns:p14="http://schemas.microsoft.com/office/powerpoint/2010/main" val="1279535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108F0-6977-AD45-0252-79F93AC49CCB}"/>
              </a:ext>
            </a:extLst>
          </p:cNvPr>
          <p:cNvSpPr>
            <a:spLocks noGrp="1"/>
          </p:cNvSpPr>
          <p:nvPr>
            <p:ph type="title"/>
          </p:nvPr>
        </p:nvSpPr>
        <p:spPr/>
        <p:txBody>
          <a:bodyPr/>
          <a:lstStyle/>
          <a:p>
            <a:pPr algn="l"/>
            <a:r>
              <a:rPr lang="en-US" b="1" dirty="0"/>
              <a:t>METHODOLOGY</a:t>
            </a:r>
          </a:p>
        </p:txBody>
      </p:sp>
      <p:sp>
        <p:nvSpPr>
          <p:cNvPr id="4" name="Rectangle 1">
            <a:extLst>
              <a:ext uri="{FF2B5EF4-FFF2-40B4-BE49-F238E27FC236}">
                <a16:creationId xmlns:a16="http://schemas.microsoft.com/office/drawing/2014/main" id="{378D44FD-2001-F243-8976-62FC7F520FD5}"/>
              </a:ext>
            </a:extLst>
          </p:cNvPr>
          <p:cNvSpPr>
            <a:spLocks noGrp="1" noChangeArrowheads="1"/>
          </p:cNvSpPr>
          <p:nvPr>
            <p:ph idx="1"/>
          </p:nvPr>
        </p:nvSpPr>
        <p:spPr bwMode="auto">
          <a:xfrm>
            <a:off x="1484311" y="2008891"/>
            <a:ext cx="10499143"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diamonds dataset</a:t>
            </a:r>
            <a:r>
              <a:rPr kumimoji="0" lang="en-US" altLang="en-US" sz="1800" b="0" i="0" u="none" strike="noStrike" cap="none" normalizeH="0" baseline="0" dirty="0">
                <a:ln>
                  <a:noFill/>
                </a:ln>
                <a:solidFill>
                  <a:schemeClr val="tx1"/>
                </a:solidFill>
                <a:effectLst/>
                <a:latin typeface="Arial" panose="020B0604020202020204" pitchFamily="34" charset="0"/>
              </a:rPr>
              <a:t> was sourced from the </a:t>
            </a:r>
            <a:r>
              <a:rPr kumimoji="0" lang="en-US" altLang="en-US" sz="1800" b="1" i="0" u="none" strike="noStrike" cap="none" normalizeH="0" baseline="0" dirty="0">
                <a:ln>
                  <a:noFill/>
                </a:ln>
                <a:solidFill>
                  <a:schemeClr val="tx1"/>
                </a:solidFill>
                <a:effectLst/>
                <a:latin typeface="Arial" panose="020B0604020202020204" pitchFamily="34" charset="0"/>
              </a:rPr>
              <a:t>Seaborn library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Initial data cleaning</a:t>
            </a:r>
            <a:r>
              <a:rPr kumimoji="0" lang="en-US" altLang="en-US" sz="1800" b="0" i="0" u="none" strike="noStrike" cap="none" normalizeH="0" baseline="0" dirty="0">
                <a:ln>
                  <a:noFill/>
                </a:ln>
                <a:solidFill>
                  <a:schemeClr val="tx1"/>
                </a:solidFill>
                <a:effectLst/>
                <a:latin typeface="Arial" panose="020B0604020202020204" pitchFamily="34" charset="0"/>
              </a:rPr>
              <a:t> steps included:</a:t>
            </a:r>
          </a:p>
          <a:p>
            <a:pPr marL="457200" lvl="1" indent="0" defTabSz="914400" eaLnBrk="0" fontAlgn="base" hangingPunct="0">
              <a:spcBef>
                <a:spcPct val="0"/>
              </a:spcBef>
              <a:spcAft>
                <a:spcPct val="0"/>
              </a:spcAft>
              <a:buClrTx/>
              <a:buSzTx/>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Removing </a:t>
            </a:r>
            <a:r>
              <a:rPr kumimoji="0" lang="en-US" altLang="en-US" sz="1400" b="1" i="0" u="none" strike="noStrike" cap="none" normalizeH="0" baseline="0" dirty="0">
                <a:ln>
                  <a:noFill/>
                </a:ln>
                <a:solidFill>
                  <a:schemeClr val="tx1"/>
                </a:solidFill>
                <a:effectLst/>
                <a:latin typeface="Arial" panose="020B0604020202020204" pitchFamily="34" charset="0"/>
              </a:rPr>
              <a:t>duplicate records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457200" lvl="1" indent="0" defTabSz="914400" eaLnBrk="0" fontAlgn="base" hangingPunct="0">
              <a:spcBef>
                <a:spcPct val="0"/>
              </a:spcBef>
              <a:spcAft>
                <a:spcPct val="0"/>
              </a:spcAft>
              <a:buClrTx/>
              <a:buSzTx/>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Confirming the </a:t>
            </a:r>
            <a:r>
              <a:rPr kumimoji="0" lang="en-US" altLang="en-US" sz="1400" b="1" i="0" u="none" strike="noStrike" cap="none" normalizeH="0" baseline="0" dirty="0">
                <a:ln>
                  <a:noFill/>
                </a:ln>
                <a:solidFill>
                  <a:schemeClr val="tx1"/>
                </a:solidFill>
                <a:effectLst/>
                <a:latin typeface="Arial" panose="020B0604020202020204" pitchFamily="34" charset="0"/>
              </a:rPr>
              <a:t>absence of missing values</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Univariate analysis</a:t>
            </a:r>
            <a:r>
              <a:rPr kumimoji="0" lang="en-US" altLang="en-US" sz="1800" b="0" i="0" u="none" strike="noStrike" cap="none" normalizeH="0" baseline="0" dirty="0">
                <a:ln>
                  <a:noFill/>
                </a:ln>
                <a:solidFill>
                  <a:schemeClr val="tx1"/>
                </a:solidFill>
                <a:effectLst/>
                <a:latin typeface="Arial" panose="020B0604020202020204" pitchFamily="34" charset="0"/>
              </a:rPr>
              <a:t> was performed to examine the distribution of individual variables such as:</a:t>
            </a:r>
          </a:p>
          <a:p>
            <a:pPr marL="457200" lvl="1" indent="0" defTabSz="914400" eaLnBrk="0" fontAlgn="base" hangingPunct="0">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Unicode MS"/>
              </a:rPr>
              <a:t>Carat</a:t>
            </a:r>
            <a:endParaRPr kumimoji="0" lang="en-US" altLang="en-US" sz="1600" b="0" i="0" u="none" strike="noStrike" cap="none" normalizeH="0" baseline="0" dirty="0">
              <a:ln>
                <a:noFill/>
              </a:ln>
              <a:solidFill>
                <a:schemeClr val="tx1"/>
              </a:solidFill>
              <a:effectLst/>
            </a:endParaRPr>
          </a:p>
          <a:p>
            <a:pPr marL="457200" lvl="1" indent="0" defTabSz="914400" eaLnBrk="0" fontAlgn="base" hangingPunct="0">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Unicode MS"/>
              </a:rPr>
              <a:t>cut</a:t>
            </a:r>
            <a:endParaRPr kumimoji="0" lang="en-US" altLang="en-US" sz="1600" b="0" i="0" u="none" strike="noStrike" cap="none" normalizeH="0" baseline="0" dirty="0">
              <a:ln>
                <a:noFill/>
              </a:ln>
              <a:solidFill>
                <a:schemeClr val="tx1"/>
              </a:solidFill>
              <a:effectLst/>
            </a:endParaRPr>
          </a:p>
          <a:p>
            <a:pPr marL="457200" lvl="1" indent="0" defTabSz="914400" eaLnBrk="0" fontAlgn="base" hangingPunct="0">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Unicode MS"/>
              </a:rPr>
              <a:t>price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Bivariate analysis</a:t>
            </a:r>
            <a:r>
              <a:rPr kumimoji="0" lang="en-US" altLang="en-US" sz="1800" b="0" i="0" u="none" strike="noStrike" cap="none" normalizeH="0" baseline="0" dirty="0">
                <a:ln>
                  <a:noFill/>
                </a:ln>
                <a:solidFill>
                  <a:schemeClr val="tx1"/>
                </a:solidFill>
                <a:effectLst/>
                <a:latin typeface="Arial" panose="020B0604020202020204" pitchFamily="34" charset="0"/>
              </a:rPr>
              <a:t> explored relationships between variables.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Visualizations used in the analysis included:</a:t>
            </a:r>
          </a:p>
          <a:p>
            <a:pPr defTabSz="91440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lumMod val="75000"/>
                    <a:lumOff val="25000"/>
                  </a:schemeClr>
                </a:solidFill>
                <a:effectLst/>
                <a:latin typeface="Arial" panose="020B0604020202020204" pitchFamily="34" charset="0"/>
              </a:rPr>
              <a:t>Boxplots</a:t>
            </a:r>
          </a:p>
          <a:p>
            <a:pPr defTabSz="914400" eaLnBrk="0" fontAlgn="base" hangingPunct="0">
              <a:spcBef>
                <a:spcPct val="0"/>
              </a:spcBef>
              <a:spcAft>
                <a:spcPct val="0"/>
              </a:spcAft>
              <a:buClrTx/>
              <a:buSzTx/>
            </a:pPr>
            <a:r>
              <a:rPr kumimoji="0" lang="en-US" altLang="en-US" sz="1800" i="0" u="none" strike="noStrike" cap="none" normalizeH="0" baseline="0" dirty="0">
                <a:ln>
                  <a:noFill/>
                </a:ln>
                <a:solidFill>
                  <a:schemeClr val="tx1">
                    <a:lumMod val="75000"/>
                    <a:lumOff val="25000"/>
                  </a:schemeClr>
                </a:solidFill>
                <a:effectLst/>
                <a:latin typeface="Arial" panose="020B0604020202020204" pitchFamily="34" charset="0"/>
              </a:rPr>
              <a:t>       Histograms</a:t>
            </a:r>
          </a:p>
          <a:p>
            <a:pPr defTabSz="914400" eaLnBrk="0" fontAlgn="base" hangingPunct="0">
              <a:spcBef>
                <a:spcPct val="0"/>
              </a:spcBef>
              <a:spcAft>
                <a:spcPct val="0"/>
              </a:spcAft>
              <a:buClrTx/>
              <a:buSzTx/>
            </a:pPr>
            <a:r>
              <a:rPr kumimoji="0" lang="en-US" altLang="en-US" sz="1800" i="0" u="none" strike="noStrike" cap="none" normalizeH="0" baseline="0" dirty="0">
                <a:ln>
                  <a:noFill/>
                </a:ln>
                <a:solidFill>
                  <a:schemeClr val="tx1">
                    <a:lumMod val="75000"/>
                    <a:lumOff val="25000"/>
                  </a:schemeClr>
                </a:solidFill>
                <a:effectLst/>
                <a:latin typeface="Arial" panose="020B0604020202020204" pitchFamily="34" charset="0"/>
              </a:rPr>
              <a:t>       Correlation matrices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EDA provided insights into the </a:t>
            </a:r>
            <a:r>
              <a:rPr kumimoji="0" lang="en-US" altLang="en-US" sz="1800" b="1" i="0" u="none" strike="noStrike" cap="none" normalizeH="0" baseline="0" dirty="0">
                <a:ln>
                  <a:noFill/>
                </a:ln>
                <a:solidFill>
                  <a:schemeClr val="tx1"/>
                </a:solidFill>
                <a:effectLst/>
                <a:latin typeface="Arial" panose="020B0604020202020204" pitchFamily="34" charset="0"/>
              </a:rPr>
              <a:t>relationships between physical diamond characteristics and their prices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Findings from EDA were used to </a:t>
            </a:r>
            <a:r>
              <a:rPr kumimoji="0" lang="en-US" altLang="en-US" sz="1800" b="1" i="0" u="none" strike="noStrike" cap="none" normalizeH="0" baseline="0" dirty="0">
                <a:ln>
                  <a:noFill/>
                </a:ln>
                <a:solidFill>
                  <a:schemeClr val="tx1"/>
                </a:solidFill>
                <a:effectLst/>
                <a:latin typeface="Arial" panose="020B0604020202020204" pitchFamily="34" charset="0"/>
              </a:rPr>
              <a:t>inform future statistical modeling and hypothesis testing</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31672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4B612-2253-EAD9-A8AF-C086C0561245}"/>
              </a:ext>
            </a:extLst>
          </p:cNvPr>
          <p:cNvSpPr>
            <a:spLocks noGrp="1"/>
          </p:cNvSpPr>
          <p:nvPr>
            <p:ph type="title"/>
          </p:nvPr>
        </p:nvSpPr>
        <p:spPr>
          <a:xfrm>
            <a:off x="1484311" y="685801"/>
            <a:ext cx="10018713" cy="902368"/>
          </a:xfrm>
        </p:spPr>
        <p:txBody>
          <a:bodyPr/>
          <a:lstStyle/>
          <a:p>
            <a:pPr algn="l"/>
            <a:r>
              <a:rPr lang="en-US" b="1" dirty="0"/>
              <a:t>Result &amp; Insights:</a:t>
            </a:r>
          </a:p>
        </p:txBody>
      </p:sp>
      <p:sp>
        <p:nvSpPr>
          <p:cNvPr id="4" name="Rectangle 1">
            <a:extLst>
              <a:ext uri="{FF2B5EF4-FFF2-40B4-BE49-F238E27FC236}">
                <a16:creationId xmlns:a16="http://schemas.microsoft.com/office/drawing/2014/main" id="{A086DE2F-4AA8-B1B4-4745-2D518743BD4B}"/>
              </a:ext>
            </a:extLst>
          </p:cNvPr>
          <p:cNvSpPr>
            <a:spLocks noGrp="1" noChangeArrowheads="1"/>
          </p:cNvSpPr>
          <p:nvPr>
            <p:ph idx="1"/>
          </p:nvPr>
        </p:nvSpPr>
        <p:spPr bwMode="auto">
          <a:xfrm>
            <a:off x="1484311" y="2447586"/>
            <a:ext cx="1059539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strongly correlated factors</a:t>
            </a:r>
            <a:r>
              <a:rPr kumimoji="0" lang="en-US" altLang="en-US" sz="1800" b="0" i="0" u="none" strike="noStrike" cap="none" normalizeH="0" baseline="0" dirty="0">
                <a:ln>
                  <a:noFill/>
                </a:ln>
                <a:solidFill>
                  <a:schemeClr val="tx1"/>
                </a:solidFill>
                <a:effectLst/>
                <a:latin typeface="Arial" panose="020B0604020202020204" pitchFamily="34" charset="0"/>
              </a:rPr>
              <a:t> with diamond price 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Carat weight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Physical dimensions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Unicode MS"/>
              </a:rPr>
              <a:t>x</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y</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z</a:t>
            </a:r>
            <a:r>
              <a:rPr lang="en-US" altLang="en-US" sz="1600" dirty="0">
                <a:latin typeface="Arial Unicode MS"/>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shows that </a:t>
            </a:r>
            <a:r>
              <a:rPr kumimoji="0" lang="en-US" altLang="en-US" sz="1800" b="1" i="0" u="none" strike="noStrike" cap="none" normalizeH="0" baseline="0" dirty="0">
                <a:ln>
                  <a:noFill/>
                </a:ln>
                <a:solidFill>
                  <a:schemeClr val="tx1"/>
                </a:solidFill>
                <a:effectLst/>
                <a:latin typeface="Arial" panose="020B0604020202020204" pitchFamily="34" charset="0"/>
              </a:rPr>
              <a:t>size and weight</a:t>
            </a:r>
            <a:r>
              <a:rPr kumimoji="0" lang="en-US" altLang="en-US" sz="1800" b="0" i="0" u="none" strike="noStrike" cap="none" normalizeH="0" baseline="0" dirty="0">
                <a:ln>
                  <a:noFill/>
                </a:ln>
                <a:solidFill>
                  <a:schemeClr val="tx1"/>
                </a:solidFill>
                <a:effectLst/>
                <a:latin typeface="Arial" panose="020B0604020202020204" pitchFamily="34" charset="0"/>
              </a:rPr>
              <a:t> are </a:t>
            </a:r>
            <a:r>
              <a:rPr kumimoji="0" lang="en-US" altLang="en-US" sz="1800" b="1" i="0" u="none" strike="noStrike" cap="none" normalizeH="0" baseline="0" dirty="0">
                <a:ln>
                  <a:noFill/>
                </a:ln>
                <a:solidFill>
                  <a:schemeClr val="tx1"/>
                </a:solidFill>
                <a:effectLst/>
                <a:latin typeface="Arial" panose="020B0604020202020204" pitchFamily="34" charset="0"/>
              </a:rPr>
              <a:t>major determinants</a:t>
            </a:r>
            <a:r>
              <a:rPr kumimoji="0" lang="en-US" altLang="en-US" sz="1800" b="0" i="0" u="none" strike="noStrike" cap="none" normalizeH="0" baseline="0" dirty="0">
                <a:ln>
                  <a:noFill/>
                </a:ln>
                <a:solidFill>
                  <a:schemeClr val="tx1"/>
                </a:solidFill>
                <a:effectLst/>
                <a:latin typeface="Arial" panose="020B0604020202020204" pitchFamily="34" charset="0"/>
              </a:rPr>
              <a:t> of price.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Depth</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table</a:t>
            </a:r>
            <a:r>
              <a:rPr kumimoji="0" lang="en-US" altLang="en-US" sz="1800" b="0" i="0" u="none" strike="noStrike" cap="none" normalizeH="0" baseline="0" dirty="0">
                <a:ln>
                  <a:noFill/>
                </a:ln>
                <a:solidFill>
                  <a:schemeClr val="tx1"/>
                </a:solidFill>
                <a:effectLst/>
                <a:latin typeface="Arial" panose="020B0604020202020204" pitchFamily="34" charset="0"/>
              </a:rPr>
              <a:t> have </a:t>
            </a:r>
            <a:r>
              <a:rPr kumimoji="0" lang="en-US" altLang="en-US" sz="1800" b="1" i="0" u="none" strike="noStrike" cap="none" normalizeH="0" baseline="0" dirty="0">
                <a:ln>
                  <a:noFill/>
                </a:ln>
                <a:solidFill>
                  <a:schemeClr val="tx1"/>
                </a:solidFill>
                <a:effectLst/>
                <a:latin typeface="Arial" panose="020B0604020202020204" pitchFamily="34" charset="0"/>
              </a:rPr>
              <a:t>weak or no significant correlation</a:t>
            </a:r>
            <a:r>
              <a:rPr kumimoji="0" lang="en-US" altLang="en-US" sz="1800" b="0" i="0" u="none" strike="noStrike" cap="none" normalizeH="0" baseline="0" dirty="0">
                <a:ln>
                  <a:noFill/>
                </a:ln>
                <a:solidFill>
                  <a:schemeClr val="tx1"/>
                </a:solidFill>
                <a:effectLst/>
                <a:latin typeface="Arial" panose="020B0604020202020204" pitchFamily="34" charset="0"/>
              </a:rPr>
              <a:t> with price.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Cut quality alone</a:t>
            </a:r>
            <a:r>
              <a:rPr kumimoji="0" lang="en-US" altLang="en-US" sz="1800" b="0" i="0" u="none" strike="noStrike" cap="none" normalizeH="0" baseline="0" dirty="0">
                <a:ln>
                  <a:noFill/>
                </a:ln>
                <a:solidFill>
                  <a:schemeClr val="tx1"/>
                </a:solidFill>
                <a:effectLst/>
                <a:latin typeface="Arial" panose="020B0604020202020204" pitchFamily="34" charset="0"/>
              </a:rPr>
              <a:t> does </a:t>
            </a:r>
            <a:r>
              <a:rPr kumimoji="0" lang="en-US" altLang="en-US" sz="1800" b="1" i="0" u="none" strike="noStrike" cap="none" normalizeH="0" baseline="0" dirty="0">
                <a:ln>
                  <a:noFill/>
                </a:ln>
                <a:solidFill>
                  <a:schemeClr val="tx1"/>
                </a:solidFill>
                <a:effectLst/>
                <a:latin typeface="Arial" panose="020B0604020202020204" pitchFamily="34" charset="0"/>
              </a:rPr>
              <a:t>not strongly influence</a:t>
            </a:r>
            <a:r>
              <a:rPr kumimoji="0" lang="en-US" altLang="en-US" sz="1800" b="0" i="0" u="none" strike="noStrike" cap="none" normalizeH="0" baseline="0" dirty="0">
                <a:ln>
                  <a:noFill/>
                </a:ln>
                <a:solidFill>
                  <a:schemeClr val="tx1"/>
                </a:solidFill>
                <a:effectLst/>
                <a:latin typeface="Arial" panose="020B0604020202020204" pitchFamily="34" charset="0"/>
              </a:rPr>
              <a:t> price.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Clarity</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color</a:t>
            </a:r>
            <a:r>
              <a:rPr kumimoji="0" lang="en-US" altLang="en-US" sz="1800" b="0" i="0" u="none" strike="noStrike" cap="none" normalizeH="0" baseline="0" dirty="0">
                <a:ln>
                  <a:noFill/>
                </a:ln>
                <a:solidFill>
                  <a:schemeClr val="tx1"/>
                </a:solidFill>
                <a:effectLst/>
                <a:latin typeface="Arial" panose="020B0604020202020204" pitchFamily="34" charset="0"/>
              </a:rPr>
              <a:t> also have a </a:t>
            </a:r>
            <a:r>
              <a:rPr kumimoji="0" lang="en-US" altLang="en-US" sz="1800" b="1" i="0" u="none" strike="noStrike" cap="none" normalizeH="0" baseline="0" dirty="0">
                <a:ln>
                  <a:noFill/>
                </a:ln>
                <a:solidFill>
                  <a:schemeClr val="tx1"/>
                </a:solidFill>
                <a:effectLst/>
                <a:latin typeface="Arial" panose="020B0604020202020204" pitchFamily="34" charset="0"/>
              </a:rPr>
              <a:t>significant impact</a:t>
            </a:r>
            <a:r>
              <a:rPr kumimoji="0" lang="en-US" altLang="en-US" sz="1800" b="0" i="0" u="none" strike="noStrike" cap="none" normalizeH="0" baseline="0" dirty="0">
                <a:ln>
                  <a:noFill/>
                </a:ln>
                <a:solidFill>
                  <a:schemeClr val="tx1"/>
                </a:solidFill>
                <a:effectLst/>
                <a:latin typeface="Arial" panose="020B0604020202020204" pitchFamily="34" charset="0"/>
              </a:rPr>
              <a:t> on diamond value.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Diamonds with smaller carat weight</a:t>
            </a:r>
            <a:r>
              <a:rPr kumimoji="0" lang="en-US" altLang="en-US" sz="1800" b="0" i="0" u="none" strike="noStrike" cap="none" normalizeH="0" baseline="0" dirty="0">
                <a:ln>
                  <a:noFill/>
                </a:ln>
                <a:solidFill>
                  <a:schemeClr val="tx1"/>
                </a:solidFill>
                <a:effectLst/>
                <a:latin typeface="Arial" panose="020B0604020202020204" pitchFamily="34" charset="0"/>
              </a:rPr>
              <a:t> are </a:t>
            </a:r>
            <a:r>
              <a:rPr kumimoji="0" lang="en-US" altLang="en-US" sz="1800" b="1" i="0" u="none" strike="noStrike" cap="none" normalizeH="0" baseline="0" dirty="0">
                <a:ln>
                  <a:noFill/>
                </a:ln>
                <a:solidFill>
                  <a:schemeClr val="tx1"/>
                </a:solidFill>
                <a:effectLst/>
                <a:latin typeface="Arial" panose="020B0604020202020204" pitchFamily="34" charset="0"/>
              </a:rPr>
              <a:t>more commonly available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common diamond prices</a:t>
            </a:r>
            <a:r>
              <a:rPr kumimoji="0" lang="en-US" altLang="en-US" sz="1800" b="0" i="0" u="none" strike="noStrike" cap="none" normalizeH="0" baseline="0" dirty="0">
                <a:ln>
                  <a:noFill/>
                </a:ln>
                <a:solidFill>
                  <a:schemeClr val="tx1"/>
                </a:solidFill>
                <a:effectLst/>
                <a:latin typeface="Arial" panose="020B0604020202020204" pitchFamily="34" charset="0"/>
              </a:rPr>
              <a:t> are around </a:t>
            </a:r>
            <a:r>
              <a:rPr lang="en-US" altLang="en-US" sz="1800" b="1" dirty="0">
                <a:latin typeface="Arial" panose="020B0604020202020204" pitchFamily="34" charset="0"/>
              </a:rPr>
              <a:t>those with lesser price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Diamonds with high carat </a:t>
            </a:r>
            <a:r>
              <a:rPr kumimoji="0" lang="en-US" altLang="en-US" sz="1800" b="0" i="0" u="none" strike="noStrike" cap="none" normalizeH="0" baseline="0" dirty="0">
                <a:ln>
                  <a:noFill/>
                </a:ln>
                <a:solidFill>
                  <a:schemeClr val="tx1"/>
                </a:solidFill>
                <a:effectLst/>
                <a:latin typeface="Arial" panose="020B0604020202020204" pitchFamily="34" charset="0"/>
              </a:rPr>
              <a:t> are </a:t>
            </a:r>
            <a:r>
              <a:rPr kumimoji="0" lang="en-US" altLang="en-US" sz="1800" b="1" i="0" u="none" strike="noStrike" cap="none" normalizeH="0" baseline="0" dirty="0">
                <a:ln>
                  <a:noFill/>
                </a:ln>
                <a:solidFill>
                  <a:schemeClr val="tx1"/>
                </a:solidFill>
                <a:effectLst/>
                <a:latin typeface="Arial" panose="020B0604020202020204" pitchFamily="34" charset="0"/>
              </a:rPr>
              <a:t>very expensive</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less frequent</a:t>
            </a:r>
            <a:r>
              <a:rPr kumimoji="0" lang="en-US" altLang="en-US" sz="1800" b="0" i="0" u="none" strike="noStrike" cap="none" normalizeH="0" baseline="0" dirty="0">
                <a:ln>
                  <a:noFill/>
                </a:ln>
                <a:solidFill>
                  <a:schemeClr val="tx1"/>
                </a:solidFill>
                <a:effectLst/>
                <a:latin typeface="Arial" panose="020B0604020202020204" pitchFamily="34" charset="0"/>
              </a:rPr>
              <a:t> in the dataset where as those with less carat are the most available ones </a:t>
            </a:r>
          </a:p>
        </p:txBody>
      </p:sp>
    </p:spTree>
    <p:extLst>
      <p:ext uri="{BB962C8B-B14F-4D97-AF65-F5344CB8AC3E}">
        <p14:creationId xmlns:p14="http://schemas.microsoft.com/office/powerpoint/2010/main" val="200629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D0C63-C74A-5CE4-409D-E338766B2660}"/>
              </a:ext>
            </a:extLst>
          </p:cNvPr>
          <p:cNvSpPr>
            <a:spLocks noGrp="1"/>
          </p:cNvSpPr>
          <p:nvPr>
            <p:ph type="title"/>
          </p:nvPr>
        </p:nvSpPr>
        <p:spPr/>
        <p:txBody>
          <a:bodyPr/>
          <a:lstStyle/>
          <a:p>
            <a:pPr algn="l"/>
            <a:r>
              <a:rPr lang="en-US" b="1" dirty="0"/>
              <a:t>Patterns and Relationships:</a:t>
            </a:r>
          </a:p>
        </p:txBody>
      </p:sp>
      <p:sp>
        <p:nvSpPr>
          <p:cNvPr id="4" name="Rectangle 1">
            <a:extLst>
              <a:ext uri="{FF2B5EF4-FFF2-40B4-BE49-F238E27FC236}">
                <a16:creationId xmlns:a16="http://schemas.microsoft.com/office/drawing/2014/main" id="{E3DC60C6-336E-9244-4969-E6BC76443294}"/>
              </a:ext>
            </a:extLst>
          </p:cNvPr>
          <p:cNvSpPr>
            <a:spLocks noGrp="1" noChangeArrowheads="1"/>
          </p:cNvSpPr>
          <p:nvPr>
            <p:ph idx="1"/>
          </p:nvPr>
        </p:nvSpPr>
        <p:spPr bwMode="auto">
          <a:xfrm>
            <a:off x="1484310" y="3490436"/>
            <a:ext cx="1070357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Most diamonds have a </a:t>
            </a:r>
            <a:r>
              <a:rPr kumimoji="0" lang="en-US" altLang="en-US" sz="1800" b="1" i="0" u="none" strike="noStrike" cap="none" normalizeH="0" baseline="0" dirty="0">
                <a:ln>
                  <a:noFill/>
                </a:ln>
                <a:solidFill>
                  <a:schemeClr val="tx1"/>
                </a:solidFill>
                <a:effectLst/>
                <a:latin typeface="Arial" panose="020B0604020202020204" pitchFamily="34" charset="0"/>
              </a:rPr>
              <a:t>carat range between 0.2 – 1.0</a:t>
            </a:r>
            <a:r>
              <a:rPr kumimoji="0" lang="en-US" altLang="en-US" sz="1800" b="0" i="0" u="none" strike="noStrike" cap="none" normalizeH="0" baseline="0" dirty="0">
                <a:ln>
                  <a:noFill/>
                </a:ln>
                <a:solidFill>
                  <a:schemeClr val="tx1"/>
                </a:solidFill>
                <a:effectLst/>
                <a:latin typeface="Arial" panose="020B0604020202020204" pitchFamily="34" charset="0"/>
              </a:rPr>
              <a:t>, making them the most common size.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most frequent price</a:t>
            </a:r>
            <a:r>
              <a:rPr kumimoji="0" lang="en-US" altLang="en-US" sz="1800" b="0" i="0" u="none" strike="noStrike" cap="none" normalizeH="0" baseline="0" dirty="0">
                <a:ln>
                  <a:noFill/>
                </a:ln>
                <a:solidFill>
                  <a:schemeClr val="tx1"/>
                </a:solidFill>
                <a:effectLst/>
                <a:latin typeface="Arial" panose="020B0604020202020204" pitchFamily="34" charset="0"/>
              </a:rPr>
              <a:t> for diamonds is around </a:t>
            </a:r>
            <a:r>
              <a:rPr kumimoji="0" lang="en-US" altLang="en-US" sz="1800" b="1" i="0" u="none" strike="noStrike" cap="none" normalizeH="0" baseline="0" dirty="0">
                <a:ln>
                  <a:noFill/>
                </a:ln>
                <a:solidFill>
                  <a:schemeClr val="tx1"/>
                </a:solidFill>
                <a:effectLst/>
                <a:latin typeface="Arial" panose="020B0604020202020204" pitchFamily="34" charset="0"/>
              </a:rPr>
              <a:t>$2,500 USD</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There is a </a:t>
            </a:r>
            <a:r>
              <a:rPr kumimoji="0" lang="en-US" altLang="en-US" sz="1800" b="1" i="0" u="none" strike="noStrike" cap="none" normalizeH="0" baseline="0" dirty="0">
                <a:ln>
                  <a:noFill/>
                </a:ln>
                <a:solidFill>
                  <a:schemeClr val="tx1"/>
                </a:solidFill>
                <a:effectLst/>
                <a:latin typeface="Arial" panose="020B0604020202020204" pitchFamily="34" charset="0"/>
              </a:rPr>
              <a:t>strong positive relationship</a:t>
            </a:r>
            <a:r>
              <a:rPr kumimoji="0" lang="en-US" altLang="en-US" sz="1800" b="0" i="0" u="none" strike="noStrike" cap="none" normalizeH="0" baseline="0" dirty="0">
                <a:ln>
                  <a:noFill/>
                </a:ln>
                <a:solidFill>
                  <a:schemeClr val="tx1"/>
                </a:solidFill>
                <a:effectLst/>
                <a:latin typeface="Arial" panose="020B0604020202020204" pitchFamily="34" charset="0"/>
              </a:rPr>
              <a:t> between </a:t>
            </a:r>
            <a:r>
              <a:rPr kumimoji="0" lang="en-US" altLang="en-US" sz="1800" b="1" i="0" u="none" strike="noStrike" cap="none" normalizeH="0" baseline="0" dirty="0">
                <a:ln>
                  <a:noFill/>
                </a:ln>
                <a:solidFill>
                  <a:schemeClr val="tx1"/>
                </a:solidFill>
                <a:effectLst/>
                <a:latin typeface="Arial" panose="020B0604020202020204" pitchFamily="34" charset="0"/>
              </a:rPr>
              <a:t>carat size</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price</a:t>
            </a:r>
            <a:r>
              <a:rPr kumimoji="0" lang="en-US" altLang="en-US" sz="1800" b="0" i="0" u="none" strike="noStrike" cap="none" normalizeH="0" baseline="0" dirty="0">
                <a:ln>
                  <a:noFill/>
                </a:ln>
                <a:solidFill>
                  <a:schemeClr val="tx1"/>
                </a:solidFill>
                <a:effectLst/>
                <a:latin typeface="Arial" panose="020B0604020202020204" pitchFamily="34" charset="0"/>
              </a:rPr>
              <a:t> — bigger diamonds cost more.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Physical dimensions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Unicode MS"/>
              </a:rPr>
              <a:t>x</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latin typeface="Arial Unicode MS"/>
              </a:rPr>
              <a:t>y</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latin typeface="Arial Unicode MS"/>
              </a:rPr>
              <a:t>z</a:t>
            </a:r>
            <a:r>
              <a:rPr kumimoji="0" lang="en-US" altLang="en-US" sz="1800" b="0" i="0" u="none" strike="noStrike" cap="none" normalizeH="0" baseline="0" dirty="0">
                <a:ln>
                  <a:noFill/>
                </a:ln>
                <a:solidFill>
                  <a:schemeClr val="tx1"/>
                </a:solidFill>
                <a:effectLst/>
              </a:rPr>
              <a:t>) also show a </a:t>
            </a:r>
            <a:r>
              <a:rPr kumimoji="0" lang="en-US" altLang="en-US" sz="1800" b="1" i="0" u="none" strike="noStrike" cap="none" normalizeH="0" baseline="0" dirty="0">
                <a:ln>
                  <a:noFill/>
                </a:ln>
                <a:solidFill>
                  <a:schemeClr val="tx1"/>
                </a:solidFill>
                <a:effectLst/>
                <a:latin typeface="Arial" panose="020B0604020202020204" pitchFamily="34" charset="0"/>
              </a:rPr>
              <a:t>strong correlation</a:t>
            </a:r>
            <a:r>
              <a:rPr kumimoji="0" lang="en-US" altLang="en-US" sz="1800" b="0" i="0" u="none" strike="noStrike" cap="none" normalizeH="0" baseline="0" dirty="0">
                <a:ln>
                  <a:noFill/>
                </a:ln>
                <a:solidFill>
                  <a:schemeClr val="tx1"/>
                </a:solidFill>
                <a:effectLst/>
                <a:latin typeface="Arial" panose="020B0604020202020204" pitchFamily="34" charset="0"/>
              </a:rPr>
              <a:t> with price.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Features like </a:t>
            </a:r>
            <a:r>
              <a:rPr kumimoji="0" lang="en-US" altLang="en-US" sz="1800" b="1" i="0" u="none" strike="noStrike" cap="none" normalizeH="0" baseline="0" dirty="0">
                <a:ln>
                  <a:noFill/>
                </a:ln>
                <a:solidFill>
                  <a:schemeClr val="tx1"/>
                </a:solidFill>
                <a:effectLst/>
                <a:latin typeface="Arial" panose="020B0604020202020204" pitchFamily="34" charset="0"/>
              </a:rPr>
              <a:t>depth</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table</a:t>
            </a:r>
            <a:r>
              <a:rPr kumimoji="0" lang="en-US" altLang="en-US" sz="1800" b="0" i="0" u="none" strike="noStrike" cap="none" normalizeH="0" baseline="0" dirty="0">
                <a:ln>
                  <a:noFill/>
                </a:ln>
                <a:solidFill>
                  <a:schemeClr val="tx1"/>
                </a:solidFill>
                <a:effectLst/>
                <a:latin typeface="Arial" panose="020B0604020202020204" pitchFamily="34" charset="0"/>
              </a:rPr>
              <a:t> have </a:t>
            </a:r>
            <a:r>
              <a:rPr kumimoji="0" lang="en-US" altLang="en-US" sz="1800" b="1" i="0" u="none" strike="noStrike" cap="none" normalizeH="0" baseline="0" dirty="0">
                <a:ln>
                  <a:noFill/>
                </a:ln>
                <a:solidFill>
                  <a:schemeClr val="tx1"/>
                </a:solidFill>
                <a:effectLst/>
                <a:latin typeface="Arial" panose="020B0604020202020204" pitchFamily="34" charset="0"/>
              </a:rPr>
              <a:t>little or no effect</a:t>
            </a:r>
            <a:r>
              <a:rPr kumimoji="0" lang="en-US" altLang="en-US" sz="1800" b="0" i="0" u="none" strike="noStrike" cap="none" normalizeH="0" baseline="0" dirty="0">
                <a:ln>
                  <a:noFill/>
                </a:ln>
                <a:solidFill>
                  <a:schemeClr val="tx1"/>
                </a:solidFill>
                <a:effectLst/>
                <a:latin typeface="Arial" panose="020B0604020202020204" pitchFamily="34" charset="0"/>
              </a:rPr>
              <a:t> on price.</a:t>
            </a:r>
          </a:p>
        </p:txBody>
      </p:sp>
    </p:spTree>
    <p:extLst>
      <p:ext uri="{BB962C8B-B14F-4D97-AF65-F5344CB8AC3E}">
        <p14:creationId xmlns:p14="http://schemas.microsoft.com/office/powerpoint/2010/main" val="4269919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57157-A4DA-051B-3728-5BFAFBAF9BF4}"/>
              </a:ext>
            </a:extLst>
          </p:cNvPr>
          <p:cNvSpPr>
            <a:spLocks noGrp="1"/>
          </p:cNvSpPr>
          <p:nvPr>
            <p:ph type="title"/>
          </p:nvPr>
        </p:nvSpPr>
        <p:spPr>
          <a:xfrm>
            <a:off x="1484311" y="0"/>
            <a:ext cx="10018713" cy="1424539"/>
          </a:xfrm>
        </p:spPr>
        <p:txBody>
          <a:bodyPr/>
          <a:lstStyle/>
          <a:p>
            <a:pPr algn="l"/>
            <a:r>
              <a:rPr lang="en-US" b="1" dirty="0"/>
              <a:t>Recommendation:</a:t>
            </a:r>
          </a:p>
        </p:txBody>
      </p:sp>
      <p:sp>
        <p:nvSpPr>
          <p:cNvPr id="3" name="Content Placeholder 2">
            <a:extLst>
              <a:ext uri="{FF2B5EF4-FFF2-40B4-BE49-F238E27FC236}">
                <a16:creationId xmlns:a16="http://schemas.microsoft.com/office/drawing/2014/main" id="{DDCF1106-8ACC-F0FE-C188-6C2D57CC7AC7}"/>
              </a:ext>
            </a:extLst>
          </p:cNvPr>
          <p:cNvSpPr>
            <a:spLocks noGrp="1"/>
          </p:cNvSpPr>
          <p:nvPr>
            <p:ph sz="half" idx="1"/>
          </p:nvPr>
        </p:nvSpPr>
        <p:spPr/>
        <p:txBody>
          <a:bodyPr>
            <a:normAutofit fontScale="92500" lnSpcReduction="10000"/>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1700" b="1" dirty="0">
                <a:latin typeface="Arial" panose="020B0604020202020204" pitchFamily="34" charset="0"/>
              </a:rPr>
              <a:t>1.</a:t>
            </a:r>
            <a:r>
              <a:rPr kumimoji="0" lang="en-US" altLang="en-US" sz="1700" b="1" i="0" u="none" strike="noStrike" cap="none" normalizeH="0" baseline="0" dirty="0">
                <a:ln>
                  <a:noFill/>
                </a:ln>
                <a:solidFill>
                  <a:schemeClr val="tx1"/>
                </a:solidFill>
                <a:effectLst/>
                <a:latin typeface="Arial" panose="020B0604020202020204" pitchFamily="34" charset="0"/>
              </a:rPr>
              <a:t>Prioritize Carat Size in Pricing and Marketing</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Carat and size are the strongest predictors of price — focus on these when </a:t>
            </a:r>
            <a:r>
              <a:rPr kumimoji="0" lang="en-US" altLang="en-US" sz="1700" b="1" i="0" u="none" strike="noStrike" cap="none" normalizeH="0" baseline="0" dirty="0">
                <a:ln>
                  <a:noFill/>
                </a:ln>
                <a:solidFill>
                  <a:schemeClr val="tx1"/>
                </a:solidFill>
                <a:effectLst/>
                <a:latin typeface="Arial" panose="020B0604020202020204" pitchFamily="34" charset="0"/>
              </a:rPr>
              <a:t>setting prices</a:t>
            </a:r>
            <a:r>
              <a:rPr kumimoji="0" lang="en-US" altLang="en-US" sz="1700" b="0" i="0" u="none" strike="noStrike" cap="none" normalizeH="0" baseline="0" dirty="0">
                <a:ln>
                  <a:noFill/>
                </a:ln>
                <a:solidFill>
                  <a:schemeClr val="tx1"/>
                </a:solidFill>
                <a:effectLst/>
                <a:latin typeface="Arial" panose="020B0604020202020204" pitchFamily="34" charset="0"/>
              </a:rPr>
              <a:t> and </a:t>
            </a:r>
            <a:r>
              <a:rPr kumimoji="0" lang="en-US" altLang="en-US" sz="1700" b="1" i="0" u="none" strike="noStrike" cap="none" normalizeH="0" baseline="0" dirty="0">
                <a:ln>
                  <a:noFill/>
                </a:ln>
                <a:solidFill>
                  <a:schemeClr val="tx1"/>
                </a:solidFill>
                <a:effectLst/>
                <a:latin typeface="Arial" panose="020B0604020202020204" pitchFamily="34" charset="0"/>
              </a:rPr>
              <a:t>advertising diamonds</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700" b="1" dirty="0">
                <a:latin typeface="Arial" panose="020B0604020202020204" pitchFamily="34" charset="0"/>
              </a:rPr>
              <a:t>2.</a:t>
            </a:r>
            <a:r>
              <a:rPr kumimoji="0" lang="en-US" altLang="en-US" sz="1700" b="1" i="0" u="none" strike="noStrike" cap="none" normalizeH="0" baseline="0" dirty="0">
                <a:ln>
                  <a:noFill/>
                </a:ln>
                <a:solidFill>
                  <a:schemeClr val="tx1"/>
                </a:solidFill>
                <a:effectLst/>
                <a:latin typeface="Arial" panose="020B0604020202020204" pitchFamily="34" charset="0"/>
              </a:rPr>
              <a:t>Stock More Diamonds in the 0.2 – 1.0 Carat Range</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This range is </a:t>
            </a:r>
            <a:r>
              <a:rPr kumimoji="0" lang="en-US" altLang="en-US" sz="1700" b="1" i="0" u="none" strike="noStrike" cap="none" normalizeH="0" baseline="0" dirty="0">
                <a:ln>
                  <a:noFill/>
                </a:ln>
                <a:solidFill>
                  <a:schemeClr val="tx1"/>
                </a:solidFill>
                <a:effectLst/>
                <a:latin typeface="Arial" panose="020B0604020202020204" pitchFamily="34" charset="0"/>
              </a:rPr>
              <a:t>most common and affordable (~$2,500 USD)</a:t>
            </a:r>
            <a:r>
              <a:rPr kumimoji="0" lang="en-US" altLang="en-US" sz="1700" b="0" i="0" u="none" strike="noStrike" cap="none" normalizeH="0" baseline="0" dirty="0">
                <a:ln>
                  <a:noFill/>
                </a:ln>
                <a:solidFill>
                  <a:schemeClr val="tx1"/>
                </a:solidFill>
                <a:effectLst/>
                <a:latin typeface="Arial" panose="020B0604020202020204" pitchFamily="34" charset="0"/>
              </a:rPr>
              <a:t>, so increasing inventory here will likely </a:t>
            </a:r>
            <a:r>
              <a:rPr kumimoji="0" lang="en-US" altLang="en-US" sz="1700" b="1" i="0" u="none" strike="noStrike" cap="none" normalizeH="0" baseline="0" dirty="0">
                <a:ln>
                  <a:noFill/>
                </a:ln>
                <a:solidFill>
                  <a:schemeClr val="tx1"/>
                </a:solidFill>
                <a:effectLst/>
                <a:latin typeface="Arial" panose="020B0604020202020204" pitchFamily="34" charset="0"/>
              </a:rPr>
              <a:t>meet higher customer demand</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Arial" panose="020B0604020202020204" pitchFamily="34" charset="0"/>
              </a:rPr>
              <a:t>3.Do Not Overemphasize Cut Alone</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i="0" u="none" strike="noStrike" cap="none" normalizeH="0" baseline="0" dirty="0">
                <a:ln>
                  <a:noFill/>
                </a:ln>
                <a:solidFill>
                  <a:schemeClr val="tx1"/>
                </a:solidFill>
                <a:effectLst/>
                <a:latin typeface="Arial" panose="020B0604020202020204" pitchFamily="34" charset="0"/>
              </a:rPr>
              <a:t>Since cut does not significantly affect price on its own, focus instead on clarity, color, and carat when determining value.</a:t>
            </a:r>
          </a:p>
          <a:p>
            <a:endParaRPr lang="en-US" dirty="0"/>
          </a:p>
        </p:txBody>
      </p:sp>
      <p:sp>
        <p:nvSpPr>
          <p:cNvPr id="5" name="TextBox 4">
            <a:extLst>
              <a:ext uri="{FF2B5EF4-FFF2-40B4-BE49-F238E27FC236}">
                <a16:creationId xmlns:a16="http://schemas.microsoft.com/office/drawing/2014/main" id="{CA01CB8B-49F9-98F7-3448-E7A8588C74BE}"/>
              </a:ext>
            </a:extLst>
          </p:cNvPr>
          <p:cNvSpPr txBox="1"/>
          <p:nvPr/>
        </p:nvSpPr>
        <p:spPr>
          <a:xfrm>
            <a:off x="1484312" y="1886552"/>
            <a:ext cx="4762484" cy="646331"/>
          </a:xfrm>
          <a:prstGeom prst="rect">
            <a:avLst/>
          </a:prstGeom>
          <a:solidFill>
            <a:schemeClr val="accent3"/>
          </a:solidFill>
        </p:spPr>
        <p:txBody>
          <a:bodyPr wrap="square" rtlCol="0">
            <a:spAutoFit/>
          </a:bodyPr>
          <a:lstStyle/>
          <a:p>
            <a:r>
              <a:rPr lang="en-US" b="1" dirty="0"/>
              <a:t>What should the stakeholders do based on the analysis:</a:t>
            </a:r>
          </a:p>
        </p:txBody>
      </p:sp>
      <p:sp>
        <p:nvSpPr>
          <p:cNvPr id="6" name="TextBox 5">
            <a:extLst>
              <a:ext uri="{FF2B5EF4-FFF2-40B4-BE49-F238E27FC236}">
                <a16:creationId xmlns:a16="http://schemas.microsoft.com/office/drawing/2014/main" id="{B07A78FD-6A95-DF65-8D77-F61B25B0EE84}"/>
              </a:ext>
            </a:extLst>
          </p:cNvPr>
          <p:cNvSpPr txBox="1"/>
          <p:nvPr/>
        </p:nvSpPr>
        <p:spPr>
          <a:xfrm>
            <a:off x="6493667" y="1886552"/>
            <a:ext cx="4762484" cy="646331"/>
          </a:xfrm>
          <a:prstGeom prst="rect">
            <a:avLst/>
          </a:prstGeom>
          <a:solidFill>
            <a:schemeClr val="accent3"/>
          </a:solidFill>
        </p:spPr>
        <p:txBody>
          <a:bodyPr wrap="square" rtlCol="0">
            <a:spAutoFit/>
          </a:bodyPr>
          <a:lstStyle/>
          <a:p>
            <a:r>
              <a:rPr lang="en-US" b="1" dirty="0"/>
              <a:t>Actionable Insights derived from data</a:t>
            </a:r>
          </a:p>
          <a:p>
            <a:endParaRPr lang="en-US" b="1" dirty="0"/>
          </a:p>
        </p:txBody>
      </p:sp>
      <p:sp>
        <p:nvSpPr>
          <p:cNvPr id="7" name="Rectangle 1">
            <a:extLst>
              <a:ext uri="{FF2B5EF4-FFF2-40B4-BE49-F238E27FC236}">
                <a16:creationId xmlns:a16="http://schemas.microsoft.com/office/drawing/2014/main" id="{15B29F04-E1D4-91DB-AEA3-41B2BA9E6CD4}"/>
              </a:ext>
            </a:extLst>
          </p:cNvPr>
          <p:cNvSpPr>
            <a:spLocks noGrp="1" noChangeArrowheads="1"/>
          </p:cNvSpPr>
          <p:nvPr>
            <p:ph sz="half" idx="2"/>
          </p:nvPr>
        </p:nvSpPr>
        <p:spPr bwMode="auto">
          <a:xfrm>
            <a:off x="6607967" y="2674829"/>
            <a:ext cx="5433238"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Carat weight is the strongest driver of price</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Focus on promoting diamonds by their carat size to align with pricing expectations.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Diamonds in the 0.2 – 1.0 carat range dominate the market</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Prioritize stocking and targeting marketing for this most in-demand segment.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Most diamonds are priced around $2,500 USD</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Price new inventory competitively within this range to attract more buyers.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Depth and table have minimal impact on price</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Don’t overemphasize these in marketing or valuation — they are not key value indicators.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Clarity and color significantly influence value</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 Use high clarity and color grades to justify premium pricing.</a:t>
            </a:r>
          </a:p>
        </p:txBody>
      </p:sp>
    </p:spTree>
    <p:extLst>
      <p:ext uri="{BB962C8B-B14F-4D97-AF65-F5344CB8AC3E}">
        <p14:creationId xmlns:p14="http://schemas.microsoft.com/office/powerpoint/2010/main" val="188669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D68B17-F770-5E11-05A3-D4A0AB54CD95}"/>
              </a:ext>
            </a:extLst>
          </p:cNvPr>
          <p:cNvSpPr>
            <a:spLocks noGrp="1"/>
          </p:cNvSpPr>
          <p:nvPr>
            <p:ph idx="1"/>
          </p:nvPr>
        </p:nvSpPr>
        <p:spPr>
          <a:xfrm>
            <a:off x="1636295" y="288757"/>
            <a:ext cx="9866728" cy="5948413"/>
          </a:xfrm>
        </p:spPr>
        <p:txBody>
          <a:bodyPr>
            <a:normAutofit lnSpcReduction="10000"/>
          </a:bodyPr>
          <a:lstStyle/>
          <a:p>
            <a:pPr>
              <a:buNone/>
            </a:pPr>
            <a:r>
              <a:rPr lang="en-US" sz="1700" b="1" dirty="0">
                <a:latin typeface="Times New Roman" panose="02020603050405020304" pitchFamily="18" charset="0"/>
                <a:cs typeface="Times New Roman" panose="02020603050405020304" pitchFamily="18" charset="0"/>
              </a:rPr>
              <a:t>Conclusion</a:t>
            </a:r>
          </a:p>
          <a:p>
            <a:pPr>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Problem Recap</a:t>
            </a:r>
            <a:r>
              <a:rPr lang="en-US" sz="1700" dirty="0">
                <a:latin typeface="Times New Roman" panose="02020603050405020304" pitchFamily="18" charset="0"/>
                <a:cs typeface="Times New Roman" panose="02020603050405020304" pitchFamily="18" charset="0"/>
              </a:rPr>
              <a:t>:</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The goal was to understand the key factors that influence diamond prices using exploratory data analysis (EDA) on the Seaborn diamonds dataset.</a:t>
            </a:r>
          </a:p>
          <a:p>
            <a:pPr>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Approach Taken</a:t>
            </a:r>
            <a:r>
              <a:rPr lang="en-US" sz="1700" dirty="0">
                <a:latin typeface="Times New Roman" panose="02020603050405020304" pitchFamily="18" charset="0"/>
                <a:cs typeface="Times New Roman" panose="02020603050405020304" pitchFamily="18" charset="0"/>
              </a:rPr>
              <a:t>:</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The dataset was cleaned by removing duplicates and checking for missing values. Univariate and bivariate analyses were conducted using histograms, boxplots, and correlation matrices to explore patterns and relationships between features such as carat, cut, clarity, and price.</a:t>
            </a:r>
          </a:p>
          <a:p>
            <a:pPr>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Key Takeaways</a:t>
            </a:r>
            <a:r>
              <a:rPr lang="en-US" sz="17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Carat size and physical dimensions</a:t>
            </a:r>
            <a:r>
              <a:rPr lang="en-US" sz="1700" dirty="0">
                <a:latin typeface="Times New Roman" panose="02020603050405020304" pitchFamily="18" charset="0"/>
                <a:cs typeface="Times New Roman" panose="02020603050405020304" pitchFamily="18" charset="0"/>
              </a:rPr>
              <a:t> (x, y, z) are the </a:t>
            </a:r>
            <a:r>
              <a:rPr lang="en-US" sz="1700" b="1" dirty="0">
                <a:latin typeface="Times New Roman" panose="02020603050405020304" pitchFamily="18" charset="0"/>
                <a:cs typeface="Times New Roman" panose="02020603050405020304" pitchFamily="18" charset="0"/>
              </a:rPr>
              <a:t>strongest predictors</a:t>
            </a:r>
            <a:r>
              <a:rPr lang="en-US" sz="1700" dirty="0">
                <a:latin typeface="Times New Roman" panose="02020603050405020304" pitchFamily="18" charset="0"/>
                <a:cs typeface="Times New Roman" panose="02020603050405020304" pitchFamily="18" charset="0"/>
              </a:rPr>
              <a:t> of price.</a:t>
            </a:r>
          </a:p>
          <a:p>
            <a:pPr marL="742950" lvl="1" indent="-285750">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Depth and table</a:t>
            </a:r>
            <a:r>
              <a:rPr lang="en-US" sz="1700" dirty="0">
                <a:latin typeface="Times New Roman" panose="02020603050405020304" pitchFamily="18" charset="0"/>
                <a:cs typeface="Times New Roman" panose="02020603050405020304" pitchFamily="18" charset="0"/>
              </a:rPr>
              <a:t> have little to no influence on price.</a:t>
            </a:r>
          </a:p>
          <a:p>
            <a:pPr marL="742950" lvl="1" indent="-285750">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Cut alone</a:t>
            </a:r>
            <a:r>
              <a:rPr lang="en-US" sz="1700" dirty="0">
                <a:latin typeface="Times New Roman" panose="02020603050405020304" pitchFamily="18" charset="0"/>
                <a:cs typeface="Times New Roman" panose="02020603050405020304" pitchFamily="18" charset="0"/>
              </a:rPr>
              <a:t> does not determine value; </a:t>
            </a:r>
            <a:r>
              <a:rPr lang="en-US" sz="1700" b="1" dirty="0">
                <a:latin typeface="Times New Roman" panose="02020603050405020304" pitchFamily="18" charset="0"/>
                <a:cs typeface="Times New Roman" panose="02020603050405020304" pitchFamily="18" charset="0"/>
              </a:rPr>
              <a:t>clarity and color</a:t>
            </a:r>
            <a:r>
              <a:rPr lang="en-US" sz="1700" dirty="0">
                <a:latin typeface="Times New Roman" panose="02020603050405020304" pitchFamily="18" charset="0"/>
                <a:cs typeface="Times New Roman" panose="02020603050405020304" pitchFamily="18" charset="0"/>
              </a:rPr>
              <a:t> also significantly impact price.</a:t>
            </a:r>
          </a:p>
          <a:p>
            <a:pPr marL="742950" lvl="1" indent="-285750">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Most diamonds fall within the </a:t>
            </a:r>
            <a:r>
              <a:rPr lang="en-US" sz="1700" b="1" dirty="0">
                <a:latin typeface="Times New Roman" panose="02020603050405020304" pitchFamily="18" charset="0"/>
                <a:cs typeface="Times New Roman" panose="02020603050405020304" pitchFamily="18" charset="0"/>
              </a:rPr>
              <a:t>0.2 – 1.0 carat range</a:t>
            </a:r>
            <a:r>
              <a:rPr lang="en-US" sz="1700" dirty="0">
                <a:latin typeface="Times New Roman" panose="02020603050405020304" pitchFamily="18" charset="0"/>
                <a:cs typeface="Times New Roman" panose="02020603050405020304" pitchFamily="18" charset="0"/>
              </a:rPr>
              <a:t> and are priced around </a:t>
            </a:r>
            <a:r>
              <a:rPr lang="en-US" sz="1700" b="1" dirty="0">
                <a:latin typeface="Times New Roman" panose="02020603050405020304" pitchFamily="18" charset="0"/>
                <a:cs typeface="Times New Roman" panose="02020603050405020304" pitchFamily="18" charset="0"/>
              </a:rPr>
              <a:t>$2,500 USD</a:t>
            </a:r>
            <a:r>
              <a:rPr lang="en-US" sz="1700" dirty="0">
                <a:latin typeface="Times New Roman" panose="02020603050405020304" pitchFamily="18" charset="0"/>
                <a:cs typeface="Times New Roman" panose="02020603050405020304" pitchFamily="18" charset="0"/>
              </a:rPr>
              <a:t>.</a:t>
            </a:r>
          </a:p>
          <a:p>
            <a:pPr>
              <a:buNone/>
            </a:pPr>
            <a:r>
              <a:rPr lang="en-US" sz="1700" b="1" dirty="0">
                <a:latin typeface="Times New Roman" panose="02020603050405020304" pitchFamily="18" charset="0"/>
                <a:cs typeface="Times New Roman" panose="02020603050405020304" pitchFamily="18" charset="0"/>
              </a:rPr>
              <a:t>Final Remarks</a:t>
            </a:r>
          </a:p>
          <a:p>
            <a:r>
              <a:rPr lang="en-US" sz="1700" dirty="0">
                <a:latin typeface="Times New Roman" panose="02020603050405020304" pitchFamily="18" charset="0"/>
                <a:cs typeface="Times New Roman" panose="02020603050405020304" pitchFamily="18" charset="0"/>
              </a:rPr>
              <a:t>This analysis highlights the importance of </a:t>
            </a:r>
            <a:r>
              <a:rPr lang="en-US" sz="1700" b="1" dirty="0">
                <a:latin typeface="Times New Roman" panose="02020603050405020304" pitchFamily="18" charset="0"/>
                <a:cs typeface="Times New Roman" panose="02020603050405020304" pitchFamily="18" charset="0"/>
              </a:rPr>
              <a:t>data-driven decision-making</a:t>
            </a:r>
            <a:r>
              <a:rPr lang="en-US" sz="1700" dirty="0">
                <a:latin typeface="Times New Roman" panose="02020603050405020304" pitchFamily="18" charset="0"/>
                <a:cs typeface="Times New Roman" panose="02020603050405020304" pitchFamily="18" charset="0"/>
              </a:rPr>
              <a:t> in the diamond industry. Stakeholders can use these insights to better price, market, and stock their products, focusing on features that truly influence value. Future work can involve </a:t>
            </a:r>
            <a:r>
              <a:rPr lang="en-US" sz="1700" b="1" dirty="0">
                <a:latin typeface="Times New Roman" panose="02020603050405020304" pitchFamily="18" charset="0"/>
                <a:cs typeface="Times New Roman" panose="02020603050405020304" pitchFamily="18" charset="0"/>
              </a:rPr>
              <a:t>predictive modeling</a:t>
            </a:r>
            <a:r>
              <a:rPr lang="en-US" sz="1700" dirty="0">
                <a:latin typeface="Times New Roman" panose="02020603050405020304" pitchFamily="18" charset="0"/>
                <a:cs typeface="Times New Roman" panose="02020603050405020304" pitchFamily="18" charset="0"/>
              </a:rPr>
              <a:t> to forecast prices or apply machine learning for automated</a:t>
            </a:r>
            <a:r>
              <a:rPr lang="en-US" dirty="0">
                <a:latin typeface="Times New Roman" panose="02020603050405020304" pitchFamily="18" charset="0"/>
                <a:cs typeface="Times New Roman" panose="02020603050405020304" pitchFamily="18" charset="0"/>
              </a:rPr>
              <a:t> valuation.</a:t>
            </a:r>
          </a:p>
          <a:p>
            <a:endParaRPr lang="en-US" dirty="0"/>
          </a:p>
        </p:txBody>
      </p:sp>
    </p:spTree>
    <p:extLst>
      <p:ext uri="{BB962C8B-B14F-4D97-AF65-F5344CB8AC3E}">
        <p14:creationId xmlns:p14="http://schemas.microsoft.com/office/powerpoint/2010/main" val="18598469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477</TotalTime>
  <Words>1725</Words>
  <Application>Microsoft Office PowerPoint</Application>
  <PresentationFormat>Widescreen</PresentationFormat>
  <Paragraphs>105</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Arial Unicode MS</vt:lpstr>
      <vt:lpstr>Calibri</vt:lpstr>
      <vt:lpstr>Corbel</vt:lpstr>
      <vt:lpstr>system-ui</vt:lpstr>
      <vt:lpstr>Times New Roman</vt:lpstr>
      <vt:lpstr>Parallax</vt:lpstr>
      <vt:lpstr>DIAMOND MARKET ANALYSIS FOR GAME VALUE ANALYTICS</vt:lpstr>
      <vt:lpstr>INTRODUCTION</vt:lpstr>
      <vt:lpstr>PROBLEM STATEMENT</vt:lpstr>
      <vt:lpstr>DATA DESCRIPTION</vt:lpstr>
      <vt:lpstr>EDA:Distribution of Diamond by price</vt:lpstr>
      <vt:lpstr>EDA:Average Diamond Price by Carat Range</vt:lpstr>
      <vt:lpstr>EDA:Distribution Of price by cut</vt:lpstr>
      <vt:lpstr>EDA:Distribution of price by Diamond Clarity</vt:lpstr>
      <vt:lpstr>EDA:Distribution of price by Diamond's color</vt:lpstr>
      <vt:lpstr> EDA:Comparison of prices with and without outliers</vt:lpstr>
      <vt:lpstr>EDA:Correlation in the numeric variables</vt:lpstr>
      <vt:lpstr>EDA:Skewed Distribution for price and carat</vt:lpstr>
      <vt:lpstr>METHODOLOGY</vt:lpstr>
      <vt:lpstr>Result &amp; Insights:</vt:lpstr>
      <vt:lpstr>Patterns and Relationships:</vt:lpstr>
      <vt:lpstr>Recommendation: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1</cp:revision>
  <dcterms:created xsi:type="dcterms:W3CDTF">2025-06-03T08:23:16Z</dcterms:created>
  <dcterms:modified xsi:type="dcterms:W3CDTF">2025-06-03T16:21:12Z</dcterms:modified>
</cp:coreProperties>
</file>